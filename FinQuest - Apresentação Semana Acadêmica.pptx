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58" r:id="rId7"/>
    <p:sldId id="260" r:id="rId8"/>
    <p:sldId id="259" r:id="rId9"/>
    <p:sldId id="265" r:id="rId10"/>
    <p:sldId id="264" r:id="rId11"/>
    <p:sldId id="266" r:id="rId12"/>
    <p:sldId id="263" r:id="rId13"/>
    <p:sldId id="267" r:id="rId14"/>
  </p:sldIdLst>
  <p:sldSz cx="18288000" cy="10287000"/>
  <p:notesSz cx="6858000" cy="9144000"/>
  <p:embeddedFontLst>
    <p:embeddedFont>
      <p:font typeface="Muli" panose="020B0604020202020204" charset="0"/>
      <p:regular r:id="rId15"/>
    </p:embeddedFont>
    <p:embeddedFont>
      <p:font typeface="Muli Bold" panose="020B0604020202020204" charset="0"/>
      <p:regular r:id="rId16"/>
    </p:embeddedFont>
    <p:embeddedFont>
      <p:font typeface="Muli Heavy" panose="020B0604020202020204" charset="0"/>
      <p:regular r:id="rId17"/>
    </p:embeddedFont>
    <p:embeddedFont>
      <p:font typeface="Muli Semi-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Estilo Claro 2 - Ênfas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22" autoAdjust="0"/>
  </p:normalViewPr>
  <p:slideViewPr>
    <p:cSldViewPr>
      <p:cViewPr varScale="1">
        <p:scale>
          <a:sx n="52" d="100"/>
          <a:sy n="52" d="100"/>
        </p:scale>
        <p:origin x="878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4.fntdata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sv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B0D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3699" y="-205425"/>
            <a:ext cx="3230456" cy="5747767"/>
          </a:xfrm>
          <a:custGeom>
            <a:avLst/>
            <a:gdLst/>
            <a:ahLst/>
            <a:cxnLst/>
            <a:rect l="l" t="t" r="r" b="b"/>
            <a:pathLst>
              <a:path w="3230456" h="5747767">
                <a:moveTo>
                  <a:pt x="0" y="0"/>
                </a:moveTo>
                <a:lnTo>
                  <a:pt x="3230455" y="0"/>
                </a:lnTo>
                <a:lnTo>
                  <a:pt x="3230455" y="5747767"/>
                </a:lnTo>
                <a:lnTo>
                  <a:pt x="0" y="57477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5493" t="-9023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15417049" y="6791992"/>
            <a:ext cx="2931689" cy="3558262"/>
          </a:xfrm>
          <a:custGeom>
            <a:avLst/>
            <a:gdLst/>
            <a:ahLst/>
            <a:cxnLst/>
            <a:rect l="l" t="t" r="r" b="b"/>
            <a:pathLst>
              <a:path w="2931689" h="3558262">
                <a:moveTo>
                  <a:pt x="0" y="0"/>
                </a:moveTo>
                <a:lnTo>
                  <a:pt x="2931690" y="0"/>
                </a:lnTo>
                <a:lnTo>
                  <a:pt x="2931690" y="3558262"/>
                </a:lnTo>
                <a:lnTo>
                  <a:pt x="0" y="35582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104397" b="-76109"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4" name="Group 4"/>
          <p:cNvGrpSpPr/>
          <p:nvPr/>
        </p:nvGrpSpPr>
        <p:grpSpPr>
          <a:xfrm>
            <a:off x="0" y="3723402"/>
            <a:ext cx="18288000" cy="4771157"/>
            <a:chOff x="0" y="0"/>
            <a:chExt cx="24384000" cy="6361541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24384000" cy="4894361"/>
              <a:chOff x="0" y="0"/>
              <a:chExt cx="4816593" cy="966787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4816592" cy="966787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966787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966787"/>
                    </a:lnTo>
                    <a:lnTo>
                      <a:pt x="0" y="966787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3493636" y="418735"/>
              <a:ext cx="17396729" cy="35720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200"/>
                </a:lnSpc>
              </a:pPr>
              <a:r>
                <a:rPr lang="en-US" sz="5400" dirty="0" err="1">
                  <a:solidFill>
                    <a:srgbClr val="6B0D0F"/>
                  </a:solidFill>
                  <a:latin typeface="Muli Heavy"/>
                </a:rPr>
                <a:t>FinQuest</a:t>
              </a:r>
              <a:r>
                <a:rPr lang="en-US" sz="5400" dirty="0">
                  <a:solidFill>
                    <a:srgbClr val="6B0D0F"/>
                  </a:solidFill>
                  <a:latin typeface="Muli Heavy"/>
                </a:rPr>
                <a:t> – WebApp de </a:t>
              </a:r>
              <a:r>
                <a:rPr lang="en-US" sz="5400" dirty="0" err="1">
                  <a:solidFill>
                    <a:srgbClr val="6B0D0F"/>
                  </a:solidFill>
                  <a:latin typeface="Muli Heavy"/>
                </a:rPr>
                <a:t>Educação</a:t>
              </a:r>
              <a:r>
                <a:rPr lang="en-US" sz="5400" dirty="0">
                  <a:solidFill>
                    <a:srgbClr val="6B0D0F"/>
                  </a:solidFill>
                  <a:latin typeface="Muli Heavy"/>
                </a:rPr>
                <a:t> </a:t>
              </a:r>
              <a:r>
                <a:rPr lang="en-US" sz="5400" dirty="0" err="1">
                  <a:solidFill>
                    <a:srgbClr val="6B0D0F"/>
                  </a:solidFill>
                  <a:latin typeface="Muli Heavy"/>
                </a:rPr>
                <a:t>Financeira</a:t>
              </a:r>
              <a:r>
                <a:rPr lang="en-US" sz="5400" dirty="0">
                  <a:solidFill>
                    <a:srgbClr val="6B0D0F"/>
                  </a:solidFill>
                  <a:latin typeface="Muli Heavy"/>
                </a:rPr>
                <a:t> </a:t>
              </a:r>
              <a:r>
                <a:rPr lang="en-US" sz="5400" dirty="0" err="1">
                  <a:solidFill>
                    <a:srgbClr val="6B0D0F"/>
                  </a:solidFill>
                  <a:latin typeface="Muli Heavy"/>
                </a:rPr>
                <a:t>Gamificada</a:t>
              </a:r>
              <a:r>
                <a:rPr lang="en-US" sz="5400" dirty="0">
                  <a:solidFill>
                    <a:srgbClr val="6B0D0F"/>
                  </a:solidFill>
                  <a:latin typeface="Muli Heavy"/>
                </a:rPr>
                <a:t> e </a:t>
              </a:r>
              <a:r>
                <a:rPr lang="en-US" sz="5400" dirty="0" err="1">
                  <a:solidFill>
                    <a:srgbClr val="6B0D0F"/>
                  </a:solidFill>
                  <a:latin typeface="Muli Heavy"/>
                </a:rPr>
                <a:t>Facilitada</a:t>
              </a:r>
              <a:endParaRPr lang="en-US" sz="5400" dirty="0">
                <a:solidFill>
                  <a:srgbClr val="6B0D0F"/>
                </a:solidFill>
                <a:latin typeface="Muli Heavy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493636" y="5080079"/>
              <a:ext cx="17396729" cy="12814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 algn="ctr">
                <a:lnSpc>
                  <a:spcPts val="3919"/>
                </a:lnSpc>
                <a:defRPr/>
              </a:pPr>
              <a:r>
                <a:rPr lang="en-US" sz="2800" dirty="0" err="1">
                  <a:solidFill>
                    <a:srgbClr val="FFFFFF"/>
                  </a:solidFill>
                  <a:latin typeface="Muli"/>
                </a:rPr>
                <a:t>Acadêmico</a:t>
              </a:r>
              <a:r>
                <a:rPr lang="en-US" sz="2800" dirty="0">
                  <a:solidFill>
                    <a:srgbClr val="FFFFFF"/>
                  </a:solidFill>
                  <a:latin typeface="Muli"/>
                </a:rPr>
                <a:t>: Vinícius Toni Rocha</a:t>
              </a:r>
              <a:br>
                <a:rPr lang="en-US" sz="2800" dirty="0">
                  <a:solidFill>
                    <a:srgbClr val="FFFFFF"/>
                  </a:solidFill>
                  <a:latin typeface="Muli"/>
                </a:rPr>
              </a:br>
              <a:r>
                <a:rPr lang="en-US" sz="2800" dirty="0" err="1">
                  <a:solidFill>
                    <a:srgbClr val="FFFFFF"/>
                  </a:solidFill>
                  <a:latin typeface="Muli"/>
                </a:rPr>
                <a:t>Orientador</a:t>
              </a:r>
              <a:r>
                <a:rPr lang="en-US" sz="2800" dirty="0">
                  <a:solidFill>
                    <a:srgbClr val="FFFFFF"/>
                  </a:solidFill>
                  <a:latin typeface="Muli"/>
                </a:rPr>
                <a:t>: Andrei </a:t>
              </a:r>
              <a:r>
                <a:rPr lang="en-US" sz="2800" dirty="0" err="1">
                  <a:solidFill>
                    <a:srgbClr val="FFFFFF"/>
                  </a:solidFill>
                  <a:latin typeface="Muli"/>
                </a:rPr>
                <a:t>Carniel</a:t>
              </a:r>
              <a:endParaRPr lang="en-US" sz="2800" dirty="0">
                <a:solidFill>
                  <a:srgbClr val="FFFFFF"/>
                </a:solidFill>
                <a:latin typeface="Muli"/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071467" y="9315450"/>
            <a:ext cx="8145066" cy="366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2799" dirty="0">
                <a:solidFill>
                  <a:srgbClr val="FFFFFF"/>
                </a:solidFill>
                <a:latin typeface="Muli"/>
              </a:rPr>
              <a:t>XXV Congresso de Iniciação Científica e Extensão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976953" y="2141968"/>
            <a:ext cx="9535357" cy="1976181"/>
            <a:chOff x="0" y="-9525"/>
            <a:chExt cx="12713809" cy="2634906"/>
          </a:xfrm>
        </p:grpSpPr>
        <p:sp>
          <p:nvSpPr>
            <p:cNvPr id="4" name="TextBox 4"/>
            <p:cNvSpPr txBox="1"/>
            <p:nvPr/>
          </p:nvSpPr>
          <p:spPr>
            <a:xfrm>
              <a:off x="0" y="-9525"/>
              <a:ext cx="12713809" cy="1635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9600"/>
                </a:lnSpc>
              </a:pPr>
              <a:r>
                <a:rPr lang="en-US" sz="8000" dirty="0" err="1">
                  <a:solidFill>
                    <a:srgbClr val="6B0D0F"/>
                  </a:solidFill>
                  <a:latin typeface="Muli Heavy"/>
                </a:rPr>
                <a:t>Contexto</a:t>
              </a:r>
              <a:endParaRPr lang="en-US" sz="8000" dirty="0">
                <a:solidFill>
                  <a:srgbClr val="6B0D0F"/>
                </a:solidFill>
                <a:latin typeface="Muli Heavy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917495"/>
              <a:ext cx="12713809" cy="7078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480"/>
                </a:lnSpc>
              </a:pPr>
              <a:r>
                <a:rPr lang="en-US" sz="3200" dirty="0">
                  <a:solidFill>
                    <a:srgbClr val="6B0D0F"/>
                  </a:solidFill>
                  <a:latin typeface="Muli"/>
                </a:rPr>
                <a:t> 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952372" y="4000500"/>
            <a:ext cx="10857164" cy="4431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3200" b="1" dirty="0">
                <a:latin typeface="Muli" panose="020B0604020202020204" charset="0"/>
              </a:rPr>
              <a:t>Onde se adequa:</a:t>
            </a:r>
            <a:r>
              <a:rPr lang="pt-BR" altLang="pt-BR" sz="3200" dirty="0">
                <a:latin typeface="Muli" panose="020B0604020202020204" charset="0"/>
              </a:rPr>
              <a:t> educação financeira aplicada + apoio à decisão para PF.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3200" dirty="0">
              <a:latin typeface="Muli" panose="020B060402020202020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3200" b="1" dirty="0">
                <a:latin typeface="Muli" panose="020B0604020202020204" charset="0"/>
              </a:rPr>
              <a:t>Público:</a:t>
            </a:r>
            <a:r>
              <a:rPr lang="pt-BR" altLang="pt-BR" sz="3200" dirty="0">
                <a:latin typeface="Muli" panose="020B0604020202020204" charset="0"/>
              </a:rPr>
              <a:t> do iniciante ao intermediário (quem quer começar e quem já investe e busca simplicidade).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3200" dirty="0">
              <a:latin typeface="Muli" panose="020B060402020202020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3200" b="1" dirty="0">
                <a:latin typeface="Muli" panose="020B0604020202020204" charset="0"/>
              </a:rPr>
              <a:t>Problema latente:</a:t>
            </a:r>
            <a:r>
              <a:rPr lang="pt-BR" altLang="pt-BR" sz="3200" dirty="0">
                <a:latin typeface="Muli" panose="020B0604020202020204" charset="0"/>
              </a:rPr>
              <a:t> muita teoria, pouca prática guiada; dificuldade de formar hábitos (reserva, diversificação).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3200" b="1" dirty="0">
              <a:latin typeface="Arial" panose="020B0604020202020204" pitchFamily="34" charset="0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6108720" y="1700956"/>
            <a:ext cx="1150580" cy="1352514"/>
            <a:chOff x="0" y="0"/>
            <a:chExt cx="1534107" cy="180335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34107" cy="1604295"/>
            </a:xfrm>
            <a:custGeom>
              <a:avLst/>
              <a:gdLst/>
              <a:ahLst/>
              <a:cxnLst/>
              <a:rect l="l" t="t" r="r" b="b"/>
              <a:pathLst>
                <a:path w="1534107" h="1604295">
                  <a:moveTo>
                    <a:pt x="0" y="0"/>
                  </a:moveTo>
                  <a:lnTo>
                    <a:pt x="1534107" y="0"/>
                  </a:lnTo>
                  <a:lnTo>
                    <a:pt x="1534107" y="1604295"/>
                  </a:lnTo>
                  <a:lnTo>
                    <a:pt x="0" y="1604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Freeform 9"/>
            <p:cNvSpPr/>
            <p:nvPr/>
          </p:nvSpPr>
          <p:spPr>
            <a:xfrm>
              <a:off x="182154" y="688541"/>
              <a:ext cx="1169798" cy="744417"/>
            </a:xfrm>
            <a:custGeom>
              <a:avLst/>
              <a:gdLst/>
              <a:ahLst/>
              <a:cxnLst/>
              <a:rect l="l" t="t" r="r" b="b"/>
              <a:pathLst>
                <a:path w="1169798" h="744417">
                  <a:moveTo>
                    <a:pt x="0" y="0"/>
                  </a:moveTo>
                  <a:lnTo>
                    <a:pt x="1169799" y="0"/>
                  </a:lnTo>
                  <a:lnTo>
                    <a:pt x="1169799" y="744417"/>
                  </a:lnTo>
                  <a:lnTo>
                    <a:pt x="0" y="744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120605" y="772098"/>
              <a:ext cx="1231347" cy="1031253"/>
            </a:xfrm>
            <a:custGeom>
              <a:avLst/>
              <a:gdLst/>
              <a:ahLst/>
              <a:cxnLst/>
              <a:rect l="l" t="t" r="r" b="b"/>
              <a:pathLst>
                <a:path w="1231347" h="1031253">
                  <a:moveTo>
                    <a:pt x="0" y="0"/>
                  </a:moveTo>
                  <a:lnTo>
                    <a:pt x="1231348" y="0"/>
                  </a:lnTo>
                  <a:lnTo>
                    <a:pt x="1231348" y="1031254"/>
                  </a:lnTo>
                  <a:lnTo>
                    <a:pt x="0" y="10312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AutoShape 11"/>
          <p:cNvSpPr/>
          <p:nvPr/>
        </p:nvSpPr>
        <p:spPr>
          <a:xfrm>
            <a:off x="0" y="0"/>
            <a:ext cx="18288000" cy="1028700"/>
          </a:xfrm>
          <a:prstGeom prst="rect">
            <a:avLst/>
          </a:prstGeom>
          <a:solidFill>
            <a:srgbClr val="6B0D0F"/>
          </a:solidFill>
        </p:spPr>
        <p:txBody>
          <a:bodyPr/>
          <a:lstStyle/>
          <a:p>
            <a:endParaRPr lang="pt-BR"/>
          </a:p>
        </p:txBody>
      </p:sp>
      <p:sp>
        <p:nvSpPr>
          <p:cNvPr id="12" name="AutoShape 12"/>
          <p:cNvSpPr/>
          <p:nvPr/>
        </p:nvSpPr>
        <p:spPr>
          <a:xfrm>
            <a:off x="0" y="0"/>
            <a:ext cx="1028700" cy="10287000"/>
          </a:xfrm>
          <a:prstGeom prst="rect">
            <a:avLst/>
          </a:prstGeom>
          <a:solidFill>
            <a:srgbClr val="6B0D0F"/>
          </a:solidFill>
        </p:spPr>
        <p:txBody>
          <a:bodyPr/>
          <a:lstStyle/>
          <a:p>
            <a:endParaRPr lang="pt-BR"/>
          </a:p>
        </p:txBody>
      </p:sp>
      <p:sp>
        <p:nvSpPr>
          <p:cNvPr id="13" name="TextBox 13"/>
          <p:cNvSpPr txBox="1"/>
          <p:nvPr/>
        </p:nvSpPr>
        <p:spPr>
          <a:xfrm rot="-5400000">
            <a:off x="-3729190" y="4715295"/>
            <a:ext cx="8542636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0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Muli"/>
              </a:rPr>
              <a:t>XXV Congresso de Iniciação Científica e Extensão da Católica SC</a:t>
            </a:r>
          </a:p>
        </p:txBody>
      </p:sp>
      <p:sp>
        <p:nvSpPr>
          <p:cNvPr id="14" name="Freeform 14"/>
          <p:cNvSpPr/>
          <p:nvPr/>
        </p:nvSpPr>
        <p:spPr>
          <a:xfrm rot="-5400000">
            <a:off x="237029" y="9196986"/>
            <a:ext cx="509681" cy="525913"/>
          </a:xfrm>
          <a:custGeom>
            <a:avLst/>
            <a:gdLst/>
            <a:ahLst/>
            <a:cxnLst/>
            <a:rect l="l" t="t" r="r" b="b"/>
            <a:pathLst>
              <a:path w="509681" h="525913">
                <a:moveTo>
                  <a:pt x="0" y="0"/>
                </a:moveTo>
                <a:lnTo>
                  <a:pt x="509681" y="0"/>
                </a:lnTo>
                <a:lnTo>
                  <a:pt x="509681" y="525913"/>
                </a:lnTo>
                <a:lnTo>
                  <a:pt x="0" y="52591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B0D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1999666" y="4770994"/>
            <a:ext cx="17431334" cy="39619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19"/>
              </a:lnSpc>
            </a:pPr>
            <a:r>
              <a:rPr lang="pt-BR" sz="3200" b="1" dirty="0">
                <a:solidFill>
                  <a:schemeClr val="bg1"/>
                </a:solidFill>
                <a:latin typeface="Muli" panose="020B0604020202020204" charset="0"/>
                <a:cs typeface="Arial" panose="020B0604020202020204" pitchFamily="34" charset="0"/>
              </a:rPr>
              <a:t>Objetivos específicos:</a:t>
            </a:r>
          </a:p>
          <a:p>
            <a:pPr>
              <a:lnSpc>
                <a:spcPts val="3919"/>
              </a:lnSpc>
            </a:pPr>
            <a:endParaRPr lang="pt-BR" sz="3200" b="1" dirty="0">
              <a:solidFill>
                <a:schemeClr val="bg1"/>
              </a:solidFill>
              <a:latin typeface="Muli" panose="020B0604020202020204" charset="0"/>
              <a:cs typeface="Arial" panose="020B0604020202020204" pitchFamily="34" charset="0"/>
            </a:endParaRPr>
          </a:p>
          <a:p>
            <a:pPr marL="457200" indent="-457200">
              <a:lnSpc>
                <a:spcPts val="3919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1"/>
                </a:solidFill>
                <a:latin typeface="Muli" panose="020B0604020202020204" charset="0"/>
                <a:cs typeface="Arial" panose="020B0604020202020204" pitchFamily="34" charset="0"/>
              </a:rPr>
              <a:t>Plano específico adequado para cada tipo de usuário</a:t>
            </a:r>
          </a:p>
          <a:p>
            <a:pPr marL="457200" indent="-457200">
              <a:lnSpc>
                <a:spcPts val="3919"/>
              </a:lnSpc>
              <a:buFont typeface="Arial" panose="020B0604020202020204" pitchFamily="34" charset="0"/>
              <a:buChar char="•"/>
            </a:pPr>
            <a:r>
              <a:rPr lang="pt-BR" sz="2800" dirty="0" err="1">
                <a:solidFill>
                  <a:schemeClr val="bg1"/>
                </a:solidFill>
                <a:latin typeface="Muli" panose="020B0604020202020204" charset="0"/>
                <a:cs typeface="Arial" panose="020B0604020202020204" pitchFamily="34" charset="0"/>
              </a:rPr>
              <a:t>Microlições</a:t>
            </a:r>
            <a:r>
              <a:rPr lang="pt-BR" sz="2800" dirty="0">
                <a:solidFill>
                  <a:schemeClr val="bg1"/>
                </a:solidFill>
                <a:latin typeface="Muli" panose="020B0604020202020204" charset="0"/>
                <a:cs typeface="Arial" panose="020B0604020202020204" pitchFamily="34" charset="0"/>
              </a:rPr>
              <a:t> (5-10 min) + </a:t>
            </a:r>
            <a:r>
              <a:rPr lang="pt-BR" sz="2800" dirty="0" err="1">
                <a:solidFill>
                  <a:schemeClr val="bg1"/>
                </a:solidFill>
                <a:latin typeface="Muli" panose="020B0604020202020204" charset="0"/>
                <a:cs typeface="Arial" panose="020B0604020202020204" pitchFamily="34" charset="0"/>
              </a:rPr>
              <a:t>quizzes</a:t>
            </a:r>
            <a:r>
              <a:rPr lang="pt-BR" sz="2800" dirty="0">
                <a:solidFill>
                  <a:schemeClr val="bg1"/>
                </a:solidFill>
                <a:latin typeface="Muli" panose="020B0604020202020204" charset="0"/>
                <a:cs typeface="Arial" panose="020B0604020202020204" pitchFamily="34" charset="0"/>
              </a:rPr>
              <a:t> e feedback</a:t>
            </a:r>
          </a:p>
          <a:p>
            <a:pPr marL="457200" indent="-457200">
              <a:lnSpc>
                <a:spcPts val="3919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1"/>
                </a:solidFill>
                <a:latin typeface="Muli" panose="020B0604020202020204" charset="0"/>
                <a:cs typeface="Arial" panose="020B0604020202020204" pitchFamily="34" charset="0"/>
              </a:rPr>
              <a:t>Relatórios &amp; Scores</a:t>
            </a:r>
          </a:p>
          <a:p>
            <a:pPr marL="457200" indent="-457200">
              <a:lnSpc>
                <a:spcPts val="3919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1"/>
                </a:solidFill>
                <a:latin typeface="Muli" panose="020B0604020202020204" charset="0"/>
                <a:cs typeface="Arial" panose="020B0604020202020204" pitchFamily="34" charset="0"/>
              </a:rPr>
              <a:t>Carteira simulada + calculadoras (juros, preço médio, RF)</a:t>
            </a:r>
          </a:p>
          <a:p>
            <a:pPr marL="457200" indent="-457200">
              <a:lnSpc>
                <a:spcPts val="3919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1"/>
                </a:solidFill>
                <a:latin typeface="Muli" panose="020B0604020202020204" charset="0"/>
                <a:cs typeface="Arial" panose="020B0604020202020204" pitchFamily="34" charset="0"/>
              </a:rPr>
              <a:t>Missões com XP/níveis e incentivos</a:t>
            </a:r>
          </a:p>
          <a:p>
            <a:pPr marL="457200" indent="-457200">
              <a:lnSpc>
                <a:spcPts val="3919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1"/>
                </a:solidFill>
                <a:latin typeface="Muli" panose="020B0604020202020204" charset="0"/>
                <a:cs typeface="Arial" panose="020B0604020202020204" pitchFamily="34" charset="0"/>
              </a:rPr>
              <a:t>Copiloto Auditável focado na área de finanças</a:t>
            </a:r>
            <a:endParaRPr lang="en-US" sz="2800" dirty="0">
              <a:solidFill>
                <a:schemeClr val="bg1"/>
              </a:solidFill>
              <a:latin typeface="Muli" panose="020B0604020202020204" charset="0"/>
              <a:cs typeface="Arial" panose="020B0604020202020204" pitchFamily="34" charset="0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0" y="0"/>
            <a:ext cx="1028700" cy="10287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pt-BR"/>
          </a:p>
        </p:txBody>
      </p:sp>
      <p:grpSp>
        <p:nvGrpSpPr>
          <p:cNvPr id="13" name="Group 13"/>
          <p:cNvGrpSpPr/>
          <p:nvPr/>
        </p:nvGrpSpPr>
        <p:grpSpPr>
          <a:xfrm>
            <a:off x="244672" y="554653"/>
            <a:ext cx="539356" cy="9177694"/>
            <a:chOff x="0" y="0"/>
            <a:chExt cx="719141" cy="12236925"/>
          </a:xfrm>
        </p:grpSpPr>
        <p:sp>
          <p:nvSpPr>
            <p:cNvPr id="14" name="TextBox 14"/>
            <p:cNvSpPr txBox="1"/>
            <p:nvPr/>
          </p:nvSpPr>
          <p:spPr>
            <a:xfrm rot="16200000">
              <a:off x="-5303245" y="5524104"/>
              <a:ext cx="11390181" cy="3419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00"/>
                </a:lnSpc>
                <a:spcBef>
                  <a:spcPct val="0"/>
                </a:spcBef>
              </a:pPr>
              <a:r>
                <a:rPr lang="en-US" sz="2000" dirty="0">
                  <a:solidFill>
                    <a:srgbClr val="6B0D0F"/>
                  </a:solidFill>
                  <a:latin typeface="Muli"/>
                </a:rPr>
                <a:t>XXV Congresso de Iniciação Científica e Extensão da Católica SC</a:t>
              </a:r>
            </a:p>
          </p:txBody>
        </p:sp>
        <p:sp>
          <p:nvSpPr>
            <p:cNvPr id="15" name="Freeform 15"/>
            <p:cNvSpPr/>
            <p:nvPr/>
          </p:nvSpPr>
          <p:spPr>
            <a:xfrm rot="-5400000">
              <a:off x="12399" y="11530183"/>
              <a:ext cx="694343" cy="719141"/>
            </a:xfrm>
            <a:custGeom>
              <a:avLst/>
              <a:gdLst/>
              <a:ahLst/>
              <a:cxnLst/>
              <a:rect l="l" t="t" r="r" b="b"/>
              <a:pathLst>
                <a:path w="694343" h="719141">
                  <a:moveTo>
                    <a:pt x="0" y="0"/>
                  </a:moveTo>
                  <a:lnTo>
                    <a:pt x="694343" y="0"/>
                  </a:lnTo>
                  <a:lnTo>
                    <a:pt x="694343" y="719141"/>
                  </a:lnTo>
                  <a:lnTo>
                    <a:pt x="0" y="719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9404" t="-47701" r="-98955" b="-107955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5995260" y="3270996"/>
            <a:ext cx="1264040" cy="1485886"/>
            <a:chOff x="0" y="0"/>
            <a:chExt cx="1685386" cy="198118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685386" cy="1762495"/>
            </a:xfrm>
            <a:custGeom>
              <a:avLst/>
              <a:gdLst/>
              <a:ahLst/>
              <a:cxnLst/>
              <a:rect l="l" t="t" r="r" b="b"/>
              <a:pathLst>
                <a:path w="1685386" h="1762495">
                  <a:moveTo>
                    <a:pt x="0" y="0"/>
                  </a:moveTo>
                  <a:lnTo>
                    <a:pt x="1685386" y="0"/>
                  </a:lnTo>
                  <a:lnTo>
                    <a:pt x="1685386" y="1762495"/>
                  </a:lnTo>
                  <a:lnTo>
                    <a:pt x="0" y="1762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200117" y="756439"/>
              <a:ext cx="1285153" cy="817825"/>
            </a:xfrm>
            <a:custGeom>
              <a:avLst/>
              <a:gdLst/>
              <a:ahLst/>
              <a:cxnLst/>
              <a:rect l="l" t="t" r="r" b="b"/>
              <a:pathLst>
                <a:path w="1285153" h="817825">
                  <a:moveTo>
                    <a:pt x="0" y="0"/>
                  </a:moveTo>
                  <a:lnTo>
                    <a:pt x="1285152" y="0"/>
                  </a:lnTo>
                  <a:lnTo>
                    <a:pt x="1285152" y="817824"/>
                  </a:lnTo>
                  <a:lnTo>
                    <a:pt x="0" y="81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132498" y="848235"/>
              <a:ext cx="1352771" cy="1132946"/>
            </a:xfrm>
            <a:custGeom>
              <a:avLst/>
              <a:gdLst/>
              <a:ahLst/>
              <a:cxnLst/>
              <a:rect l="l" t="t" r="r" b="b"/>
              <a:pathLst>
                <a:path w="1352771" h="1132946">
                  <a:moveTo>
                    <a:pt x="0" y="0"/>
                  </a:moveTo>
                  <a:lnTo>
                    <a:pt x="1352771" y="0"/>
                  </a:lnTo>
                  <a:lnTo>
                    <a:pt x="1352771" y="1132946"/>
                  </a:lnTo>
                  <a:lnTo>
                    <a:pt x="0" y="1132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" name="TextBox 4">
            <a:extLst>
              <a:ext uri="{FF2B5EF4-FFF2-40B4-BE49-F238E27FC236}">
                <a16:creationId xmlns:a16="http://schemas.microsoft.com/office/drawing/2014/main" id="{C79C699E-E584-0308-8AEB-399888912005}"/>
              </a:ext>
            </a:extLst>
          </p:cNvPr>
          <p:cNvSpPr txBox="1"/>
          <p:nvPr/>
        </p:nvSpPr>
        <p:spPr>
          <a:xfrm>
            <a:off x="1975085" y="1368623"/>
            <a:ext cx="9535357" cy="1226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600"/>
              </a:lnSpc>
            </a:pPr>
            <a:r>
              <a:rPr lang="en-US" sz="8000" dirty="0" err="1">
                <a:solidFill>
                  <a:schemeClr val="bg1"/>
                </a:solidFill>
                <a:latin typeface="Muli Heavy"/>
              </a:rPr>
              <a:t>Objetivos</a:t>
            </a:r>
            <a:endParaRPr lang="en-US" sz="8000" dirty="0">
              <a:solidFill>
                <a:schemeClr val="bg1"/>
              </a:solidFill>
              <a:latin typeface="Muli Heavy"/>
            </a:endParaRP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D38B1853-F038-2F35-1A0D-C12E6E19A703}"/>
              </a:ext>
            </a:extLst>
          </p:cNvPr>
          <p:cNvSpPr txBox="1"/>
          <p:nvPr/>
        </p:nvSpPr>
        <p:spPr>
          <a:xfrm>
            <a:off x="1999666" y="3019833"/>
            <a:ext cx="14145682" cy="1114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pt-BR" sz="3600" dirty="0">
                <a:solidFill>
                  <a:schemeClr val="bg1"/>
                </a:solidFill>
                <a:latin typeface="Muli" panose="020B0604020202020204" charset="0"/>
                <a:cs typeface="Arial" panose="020B0604020202020204" pitchFamily="34" charset="0"/>
              </a:rPr>
              <a:t>Objetivo geral: Promover inteligência financeira prática e transparente.</a:t>
            </a:r>
            <a:endParaRPr lang="en-US" sz="3600" dirty="0">
              <a:solidFill>
                <a:schemeClr val="bg1"/>
              </a:solidFill>
              <a:latin typeface="Muli" panose="020B060402020202020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8288000" cy="1028700"/>
          </a:xfrm>
          <a:prstGeom prst="rect">
            <a:avLst/>
          </a:prstGeom>
          <a:solidFill>
            <a:srgbClr val="6B0D0F"/>
          </a:solidFill>
        </p:spPr>
        <p:txBody>
          <a:bodyPr/>
          <a:lstStyle/>
          <a:p>
            <a:endParaRPr lang="pt-BR"/>
          </a:p>
        </p:txBody>
      </p:sp>
      <p:sp>
        <p:nvSpPr>
          <p:cNvPr id="3" name="AutoShape 3"/>
          <p:cNvSpPr/>
          <p:nvPr/>
        </p:nvSpPr>
        <p:spPr>
          <a:xfrm>
            <a:off x="17259300" y="0"/>
            <a:ext cx="1028700" cy="10287000"/>
          </a:xfrm>
          <a:prstGeom prst="rect">
            <a:avLst/>
          </a:prstGeom>
          <a:solidFill>
            <a:srgbClr val="6B0D0F"/>
          </a:solidFill>
        </p:spPr>
        <p:txBody>
          <a:bodyPr/>
          <a:lstStyle/>
          <a:p>
            <a:endParaRPr lang="pt-BR"/>
          </a:p>
        </p:txBody>
      </p:sp>
      <p:grpSp>
        <p:nvGrpSpPr>
          <p:cNvPr id="4" name="Group 4"/>
          <p:cNvGrpSpPr/>
          <p:nvPr/>
        </p:nvGrpSpPr>
        <p:grpSpPr>
          <a:xfrm>
            <a:off x="1028700" y="1827678"/>
            <a:ext cx="14145682" cy="2307020"/>
            <a:chOff x="0" y="-9525"/>
            <a:chExt cx="18860909" cy="3076026"/>
          </a:xfrm>
        </p:grpSpPr>
        <p:sp>
          <p:nvSpPr>
            <p:cNvPr id="5" name="TextBox 5"/>
            <p:cNvSpPr txBox="1"/>
            <p:nvPr/>
          </p:nvSpPr>
          <p:spPr>
            <a:xfrm>
              <a:off x="0" y="-9525"/>
              <a:ext cx="18860909" cy="1635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9600"/>
                </a:lnSpc>
              </a:pPr>
              <a:r>
                <a:rPr lang="en-US" sz="8000" dirty="0" err="1">
                  <a:solidFill>
                    <a:srgbClr val="6B0D0F"/>
                  </a:solidFill>
                  <a:latin typeface="Muli Bold"/>
                </a:rPr>
                <a:t>Justificativa</a:t>
              </a:r>
              <a:endParaRPr lang="en-US" sz="8000" dirty="0">
                <a:solidFill>
                  <a:srgbClr val="6B0D0F"/>
                </a:solidFill>
                <a:latin typeface="Muli Bold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917469"/>
              <a:ext cx="18860909" cy="11490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42900" lvl="0" indent="-3429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pt-BR" altLang="pt-BR" sz="2800" b="1" dirty="0">
                  <a:latin typeface="Muli" panose="020B0604020202020204" charset="0"/>
                </a:rPr>
                <a:t>Necessidade real:</a:t>
              </a:r>
              <a:r>
                <a:rPr lang="pt-BR" altLang="pt-BR" sz="2800" dirty="0">
                  <a:latin typeface="Muli" panose="020B0604020202020204" charset="0"/>
                </a:rPr>
                <a:t> muita gente conhece “o que é”, mas não pratica (reserva, diversificação, rebalanceamento). Falta mão na massa com feedback.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28700" y="5001374"/>
            <a:ext cx="15165060" cy="4463210"/>
            <a:chOff x="-264452" y="-1504302"/>
            <a:chExt cx="20220080" cy="5950952"/>
          </a:xfrm>
        </p:grpSpPr>
        <p:sp>
          <p:nvSpPr>
            <p:cNvPr id="8" name="TextBox 8"/>
            <p:cNvSpPr txBox="1"/>
            <p:nvPr/>
          </p:nvSpPr>
          <p:spPr>
            <a:xfrm>
              <a:off x="0" y="-57150"/>
              <a:ext cx="19955628" cy="6227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19"/>
                </a:lnSpc>
              </a:pPr>
              <a:endParaRPr lang="en-US" sz="2799" dirty="0">
                <a:solidFill>
                  <a:srgbClr val="6B0D0F"/>
                </a:solidFill>
                <a:latin typeface="Muli Bold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-264452" y="-1504302"/>
              <a:ext cx="19955628" cy="59509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42900" lvl="0" indent="-3429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pt-BR" altLang="pt-BR" sz="2400" b="1" dirty="0">
                  <a:latin typeface="Muli" panose="020B0604020202020204" charset="0"/>
                </a:rPr>
                <a:t>Lacuna dos apps atuais:</a:t>
              </a:r>
              <a:r>
                <a:rPr lang="pt-BR" altLang="pt-BR" sz="2400" dirty="0">
                  <a:latin typeface="Muli" panose="020B0604020202020204" charset="0"/>
                </a:rPr>
                <a:t> ou monitoram carteira e notícias, ou vendem conteúdo. Quase nenhum mostra um plano e como funcionam, explicável, com medição de resultado.</a:t>
              </a:r>
            </a:p>
            <a:p>
              <a:pPr marL="342900" lvl="0" indent="-3429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endParaRPr lang="pt-BR" altLang="pt-BR" sz="2400" dirty="0">
                <a:latin typeface="Muli" panose="020B0604020202020204" charset="0"/>
              </a:endParaRPr>
            </a:p>
            <a:p>
              <a:pPr marL="342900" lvl="0" indent="-3429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pt-BR" altLang="pt-BR" sz="2400" b="1" dirty="0">
                  <a:latin typeface="Muli" panose="020B0604020202020204" charset="0"/>
                </a:rPr>
                <a:t>Proposta que fecha a lacuna</a:t>
              </a:r>
              <a:r>
                <a:rPr lang="pt-BR" altLang="pt-BR" sz="2400" dirty="0">
                  <a:latin typeface="Muli" panose="020B0604020202020204" charset="0"/>
                </a:rPr>
                <a:t>: Plano personalizados com missões explicáveis (regras claras como ter uma reserva de emergência), carteira simulada e scores (aprendizado, saúde financeira, hábito).</a:t>
              </a:r>
            </a:p>
            <a:p>
              <a:pPr marL="342900" lvl="0" indent="-3429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endParaRPr lang="pt-BR" altLang="pt-BR" sz="2400" dirty="0">
                <a:latin typeface="Muli" panose="020B0604020202020204" charset="0"/>
              </a:endParaRPr>
            </a:p>
            <a:p>
              <a:pPr marL="342900" lvl="0" indent="-3429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pt-BR" altLang="pt-BR" sz="2400" b="1" dirty="0">
                  <a:latin typeface="Muli" panose="020B0604020202020204" charset="0"/>
                </a:rPr>
                <a:t>Impacto social:</a:t>
              </a:r>
              <a:r>
                <a:rPr lang="pt-BR" altLang="pt-BR" sz="2400" dirty="0">
                  <a:latin typeface="Muli" panose="020B0604020202020204" charset="0"/>
                </a:rPr>
                <a:t> aumenta inteligência financeira, reduz riscos de perdas financeiras, criação de hábitos (aportes/reserva).</a:t>
              </a:r>
            </a:p>
            <a:p>
              <a:pPr marL="342900" lvl="0" indent="-3429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endParaRPr lang="pt-BR" altLang="pt-BR" sz="2400" dirty="0">
                <a:latin typeface="Muli" panose="020B0604020202020204" charset="0"/>
              </a:endParaRPr>
            </a:p>
            <a:p>
              <a:pPr marL="342900" lvl="0" indent="-3429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pt-BR" altLang="pt-BR" sz="2400" b="1" dirty="0">
                  <a:latin typeface="Muli" panose="020B0604020202020204" charset="0"/>
                </a:rPr>
                <a:t>Viabilidade acadêmica:</a:t>
              </a:r>
              <a:r>
                <a:rPr lang="pt-BR" altLang="pt-BR" sz="2400" dirty="0">
                  <a:latin typeface="Muli" panose="020B0604020202020204" charset="0"/>
                </a:rPr>
                <a:t> </a:t>
              </a:r>
              <a:r>
                <a:rPr lang="pt-BR" altLang="pt-BR" sz="2400" dirty="0" err="1">
                  <a:latin typeface="Muli" panose="020B0604020202020204" charset="0"/>
                </a:rPr>
                <a:t>WebApp</a:t>
              </a:r>
              <a:r>
                <a:rPr lang="pt-BR" altLang="pt-BR" sz="2400" dirty="0">
                  <a:latin typeface="Muli" panose="020B0604020202020204" charset="0"/>
                </a:rPr>
                <a:t> (PWA) público, arquitetura limpa, respeito a LGPD, execução de testes e métricas objetivas.</a:t>
              </a:r>
            </a:p>
            <a:p>
              <a:pPr>
                <a:lnSpc>
                  <a:spcPts val="3359"/>
                </a:lnSpc>
              </a:pPr>
              <a:endParaRPr lang="en-US" sz="2400" dirty="0">
                <a:solidFill>
                  <a:srgbClr val="000000"/>
                </a:solidFill>
                <a:latin typeface="Muli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5641551" y="1459566"/>
            <a:ext cx="1150580" cy="1352514"/>
            <a:chOff x="0" y="0"/>
            <a:chExt cx="1534107" cy="180335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34107" cy="1604295"/>
            </a:xfrm>
            <a:custGeom>
              <a:avLst/>
              <a:gdLst/>
              <a:ahLst/>
              <a:cxnLst/>
              <a:rect l="l" t="t" r="r" b="b"/>
              <a:pathLst>
                <a:path w="1534107" h="1604295">
                  <a:moveTo>
                    <a:pt x="0" y="0"/>
                  </a:moveTo>
                  <a:lnTo>
                    <a:pt x="1534107" y="0"/>
                  </a:lnTo>
                  <a:lnTo>
                    <a:pt x="1534107" y="1604295"/>
                  </a:lnTo>
                  <a:lnTo>
                    <a:pt x="0" y="1604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182154" y="688541"/>
              <a:ext cx="1169798" cy="744417"/>
            </a:xfrm>
            <a:custGeom>
              <a:avLst/>
              <a:gdLst/>
              <a:ahLst/>
              <a:cxnLst/>
              <a:rect l="l" t="t" r="r" b="b"/>
              <a:pathLst>
                <a:path w="1169798" h="744417">
                  <a:moveTo>
                    <a:pt x="0" y="0"/>
                  </a:moveTo>
                  <a:lnTo>
                    <a:pt x="1169799" y="0"/>
                  </a:lnTo>
                  <a:lnTo>
                    <a:pt x="1169799" y="744417"/>
                  </a:lnTo>
                  <a:lnTo>
                    <a:pt x="0" y="744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120605" y="772098"/>
              <a:ext cx="1231347" cy="1031253"/>
            </a:xfrm>
            <a:custGeom>
              <a:avLst/>
              <a:gdLst/>
              <a:ahLst/>
              <a:cxnLst/>
              <a:rect l="l" t="t" r="r" b="b"/>
              <a:pathLst>
                <a:path w="1231347" h="1031253">
                  <a:moveTo>
                    <a:pt x="0" y="0"/>
                  </a:moveTo>
                  <a:lnTo>
                    <a:pt x="1231348" y="0"/>
                  </a:lnTo>
                  <a:lnTo>
                    <a:pt x="1231348" y="1031254"/>
                  </a:lnTo>
                  <a:lnTo>
                    <a:pt x="0" y="10312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7510693" y="514350"/>
            <a:ext cx="525913" cy="9248109"/>
            <a:chOff x="0" y="0"/>
            <a:chExt cx="701217" cy="12330813"/>
          </a:xfrm>
        </p:grpSpPr>
        <p:sp>
          <p:nvSpPr>
            <p:cNvPr id="15" name="TextBox 15"/>
            <p:cNvSpPr txBox="1"/>
            <p:nvPr/>
          </p:nvSpPr>
          <p:spPr>
            <a:xfrm rot="5400000">
              <a:off x="-5358770" y="6464736"/>
              <a:ext cx="11390181" cy="3419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00"/>
                </a:lnSpc>
                <a:spcBef>
                  <a:spcPct val="0"/>
                </a:spcBef>
              </a:pPr>
              <a:r>
                <a:rPr lang="en-US" sz="2000" dirty="0">
                  <a:solidFill>
                    <a:srgbClr val="FFFFFF"/>
                  </a:solidFill>
                  <a:latin typeface="Muli"/>
                </a:rPr>
                <a:t>XXV Congresso de Iniciação Científica e Extensão da Católica SC</a:t>
              </a:r>
            </a:p>
          </p:txBody>
        </p:sp>
        <p:sp>
          <p:nvSpPr>
            <p:cNvPr id="16" name="Freeform 16"/>
            <p:cNvSpPr/>
            <p:nvPr/>
          </p:nvSpPr>
          <p:spPr>
            <a:xfrm rot="5400000">
              <a:off x="10821" y="-10821"/>
              <a:ext cx="679575" cy="701217"/>
            </a:xfrm>
            <a:custGeom>
              <a:avLst/>
              <a:gdLst/>
              <a:ahLst/>
              <a:cxnLst/>
              <a:rect l="l" t="t" r="r" b="b"/>
              <a:pathLst>
                <a:path w="679575" h="701217">
                  <a:moveTo>
                    <a:pt x="0" y="0"/>
                  </a:moveTo>
                  <a:lnTo>
                    <a:pt x="679575" y="0"/>
                  </a:lnTo>
                  <a:lnTo>
                    <a:pt x="679575" y="701217"/>
                  </a:lnTo>
                  <a:lnTo>
                    <a:pt x="0" y="7012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049254" y="1019175"/>
            <a:ext cx="9755919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600"/>
              </a:lnSpc>
            </a:pPr>
            <a:r>
              <a:rPr lang="en-US" sz="8000" dirty="0" err="1">
                <a:solidFill>
                  <a:srgbClr val="6B0D0F"/>
                </a:solidFill>
                <a:latin typeface="Muli Heavy"/>
              </a:rPr>
              <a:t>Proposta</a:t>
            </a:r>
            <a:endParaRPr lang="en-US" sz="8000" dirty="0">
              <a:solidFill>
                <a:srgbClr val="D9D9D9"/>
              </a:solidFill>
              <a:latin typeface="Muli Heavy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140468" y="4003484"/>
            <a:ext cx="10277" cy="2213589"/>
          </a:xfrm>
          <a:prstGeom prst="rect">
            <a:avLst/>
          </a:prstGeom>
          <a:solidFill>
            <a:srgbClr val="6B0D0F"/>
          </a:solidFill>
        </p:spPr>
        <p:txBody>
          <a:bodyPr/>
          <a:lstStyle/>
          <a:p>
            <a:endParaRPr lang="pt-BR"/>
          </a:p>
        </p:txBody>
      </p:sp>
      <p:grpSp>
        <p:nvGrpSpPr>
          <p:cNvPr id="6" name="Group 6"/>
          <p:cNvGrpSpPr/>
          <p:nvPr/>
        </p:nvGrpSpPr>
        <p:grpSpPr>
          <a:xfrm>
            <a:off x="1381641" y="3456176"/>
            <a:ext cx="8489493" cy="2585323"/>
            <a:chOff x="-648541" y="-477186"/>
            <a:chExt cx="11319323" cy="3447096"/>
          </a:xfrm>
        </p:grpSpPr>
        <p:sp>
          <p:nvSpPr>
            <p:cNvPr id="7" name="TextBox 7"/>
            <p:cNvSpPr txBox="1"/>
            <p:nvPr/>
          </p:nvSpPr>
          <p:spPr>
            <a:xfrm>
              <a:off x="0" y="-47625"/>
              <a:ext cx="10670782" cy="6131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19"/>
                </a:lnSpc>
              </a:pPr>
              <a:endParaRPr lang="en-US" sz="2800" dirty="0">
                <a:solidFill>
                  <a:srgbClr val="6B0D0F"/>
                </a:solidFill>
                <a:latin typeface="Muli Semi-Bold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-648541" y="-477186"/>
              <a:ext cx="10670782" cy="34470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42900" lvl="0" indent="-3429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pt-BR" altLang="pt-BR" sz="2400" b="1" dirty="0">
                  <a:latin typeface="Muli" panose="020B0604020202020204" charset="0"/>
                </a:rPr>
                <a:t>O que será feito (MVP):</a:t>
              </a:r>
              <a:r>
                <a:rPr lang="pt-BR" altLang="pt-BR" sz="2400" dirty="0">
                  <a:latin typeface="Muli" panose="020B0604020202020204" charset="0"/>
                </a:rPr>
                <a:t> PWA público com trilhas, carteira simulada, plano personalizado, </a:t>
              </a:r>
              <a:r>
                <a:rPr lang="pt-BR" altLang="pt-BR" sz="2400" dirty="0" err="1">
                  <a:latin typeface="Muli" panose="020B0604020202020204" charset="0"/>
                </a:rPr>
                <a:t>nudges</a:t>
              </a:r>
              <a:r>
                <a:rPr lang="pt-BR" altLang="pt-BR" sz="2400" dirty="0">
                  <a:latin typeface="Muli" panose="020B0604020202020204" charset="0"/>
                </a:rPr>
                <a:t> explicáveis e Copiloto Auditável (será treinado para responder apenas perguntas sobre finanças).</a:t>
              </a:r>
            </a:p>
            <a:p>
              <a:pPr marL="342900" lvl="0" indent="-3429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endParaRPr lang="pt-BR" altLang="pt-BR" sz="2400" dirty="0">
                <a:latin typeface="Muli" panose="020B0604020202020204" charset="0"/>
              </a:endParaRPr>
            </a:p>
            <a:p>
              <a:pPr marL="342900" lvl="0" indent="-3429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pt-BR" altLang="pt-BR" sz="2400" b="1" dirty="0">
                  <a:latin typeface="Muli" panose="020B0604020202020204" charset="0"/>
                </a:rPr>
                <a:t>Metodologia:</a:t>
              </a:r>
              <a:r>
                <a:rPr lang="pt-BR" altLang="pt-BR" sz="2400" dirty="0">
                  <a:latin typeface="Muli" panose="020B0604020202020204" charset="0"/>
                </a:rPr>
                <a:t> requisitos, arquitetura em camadas  protótipo, divisão em Sprints, testes.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381641" y="6057409"/>
            <a:ext cx="8003087" cy="4001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altLang="pt-BR" sz="2400" b="1" dirty="0">
                <a:latin typeface="Muli" panose="020B0604020202020204" charset="0"/>
              </a:rPr>
              <a:t>Limitações:</a:t>
            </a:r>
            <a:r>
              <a:rPr lang="pt-BR" altLang="pt-BR" sz="2400" dirty="0">
                <a:latin typeface="Muli" panose="020B0604020202020204" charset="0"/>
              </a:rPr>
              <a:t> sem Open </a:t>
            </a:r>
            <a:r>
              <a:rPr lang="pt-BR" altLang="pt-BR" sz="2400" dirty="0" err="1">
                <a:latin typeface="Muli" panose="020B0604020202020204" charset="0"/>
              </a:rPr>
              <a:t>Finance</a:t>
            </a:r>
            <a:r>
              <a:rPr lang="pt-BR" altLang="pt-BR" sz="2400" dirty="0">
                <a:latin typeface="Muli" panose="020B0604020202020204" charset="0"/>
              </a:rPr>
              <a:t> no MVP; IA generativa limitada; cobertura de ativos restritos </a:t>
            </a:r>
            <a:r>
              <a:rPr lang="pt-BR" sz="2400" dirty="0">
                <a:latin typeface="Muli" panose="020B0604020202020204" charset="0"/>
              </a:rPr>
              <a:t>podem não estar 100% tratados e questão tributária.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pt-BR" altLang="pt-BR" sz="2400" dirty="0">
              <a:latin typeface="Muli" panose="020B060402020202020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altLang="pt-BR" sz="2400" b="1" dirty="0">
                <a:latin typeface="Muli" panose="020B0604020202020204" charset="0"/>
              </a:rPr>
              <a:t>Escopo:</a:t>
            </a:r>
            <a:r>
              <a:rPr lang="pt-BR" altLang="pt-BR" sz="2400" dirty="0">
                <a:latin typeface="Muli" panose="020B0604020202020204" charset="0"/>
              </a:rPr>
              <a:t> Planos personalizados, ferramentas para simulação, gamificação com XP/Scores, </a:t>
            </a:r>
            <a:r>
              <a:rPr lang="pt-BR" altLang="pt-BR" sz="2400" dirty="0" err="1">
                <a:latin typeface="Muli" panose="020B0604020202020204" charset="0"/>
              </a:rPr>
              <a:t>nudges</a:t>
            </a:r>
            <a:r>
              <a:rPr lang="pt-BR" altLang="pt-BR" sz="2400" dirty="0">
                <a:latin typeface="Muli" panose="020B0604020202020204" charset="0"/>
              </a:rPr>
              <a:t> explicáveis.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2400" dirty="0">
              <a:latin typeface="Muli" panose="020B060402020202020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altLang="pt-BR" sz="2400" b="1" dirty="0">
                <a:latin typeface="Muli" panose="020B0604020202020204" charset="0"/>
              </a:rPr>
              <a:t>Fora do escopo:</a:t>
            </a:r>
            <a:r>
              <a:rPr lang="pt-BR" altLang="pt-BR" sz="2400" dirty="0">
                <a:latin typeface="Muli" panose="020B0604020202020204" charset="0"/>
              </a:rPr>
              <a:t> trading real, consultoria/recomendação regulada.</a:t>
            </a:r>
          </a:p>
        </p:txBody>
      </p:sp>
      <p:sp>
        <p:nvSpPr>
          <p:cNvPr id="12" name="AutoShape 12"/>
          <p:cNvSpPr/>
          <p:nvPr/>
        </p:nvSpPr>
        <p:spPr>
          <a:xfrm>
            <a:off x="1117257" y="7249776"/>
            <a:ext cx="10277" cy="2213589"/>
          </a:xfrm>
          <a:prstGeom prst="rect">
            <a:avLst/>
          </a:prstGeom>
          <a:solidFill>
            <a:srgbClr val="6B0D0F"/>
          </a:solidFill>
        </p:spPr>
        <p:txBody>
          <a:bodyPr/>
          <a:lstStyle/>
          <a:p>
            <a:endParaRPr lang="pt-BR"/>
          </a:p>
        </p:txBody>
      </p:sp>
      <p:grpSp>
        <p:nvGrpSpPr>
          <p:cNvPr id="13" name="Group 13"/>
          <p:cNvGrpSpPr/>
          <p:nvPr/>
        </p:nvGrpSpPr>
        <p:grpSpPr>
          <a:xfrm>
            <a:off x="244672" y="554653"/>
            <a:ext cx="539356" cy="9177694"/>
            <a:chOff x="0" y="0"/>
            <a:chExt cx="719141" cy="12236925"/>
          </a:xfrm>
        </p:grpSpPr>
        <p:sp>
          <p:nvSpPr>
            <p:cNvPr id="14" name="TextBox 14"/>
            <p:cNvSpPr txBox="1"/>
            <p:nvPr/>
          </p:nvSpPr>
          <p:spPr>
            <a:xfrm rot="16200000">
              <a:off x="-5303245" y="5524104"/>
              <a:ext cx="11390181" cy="3419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00"/>
                </a:lnSpc>
                <a:spcBef>
                  <a:spcPct val="0"/>
                </a:spcBef>
              </a:pPr>
              <a:r>
                <a:rPr lang="en-US" sz="2000" dirty="0">
                  <a:solidFill>
                    <a:srgbClr val="6B0D0F"/>
                  </a:solidFill>
                  <a:latin typeface="Muli"/>
                </a:rPr>
                <a:t>XXV Congresso de Iniciação Científica e Extensão da Católica SC</a:t>
              </a:r>
            </a:p>
          </p:txBody>
        </p:sp>
        <p:sp>
          <p:nvSpPr>
            <p:cNvPr id="15" name="Freeform 15"/>
            <p:cNvSpPr/>
            <p:nvPr/>
          </p:nvSpPr>
          <p:spPr>
            <a:xfrm rot="-5400000">
              <a:off x="12399" y="11530183"/>
              <a:ext cx="694343" cy="719141"/>
            </a:xfrm>
            <a:custGeom>
              <a:avLst/>
              <a:gdLst/>
              <a:ahLst/>
              <a:cxnLst/>
              <a:rect l="l" t="t" r="r" b="b"/>
              <a:pathLst>
                <a:path w="694343" h="719141">
                  <a:moveTo>
                    <a:pt x="0" y="0"/>
                  </a:moveTo>
                  <a:lnTo>
                    <a:pt x="694343" y="0"/>
                  </a:lnTo>
                  <a:lnTo>
                    <a:pt x="694343" y="719141"/>
                  </a:lnTo>
                  <a:lnTo>
                    <a:pt x="0" y="719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9404" t="-47701" r="-98955" b="-107955"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5995260" y="8354346"/>
            <a:ext cx="1264040" cy="1485886"/>
            <a:chOff x="0" y="0"/>
            <a:chExt cx="1685386" cy="198118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685386" cy="1762495"/>
            </a:xfrm>
            <a:custGeom>
              <a:avLst/>
              <a:gdLst/>
              <a:ahLst/>
              <a:cxnLst/>
              <a:rect l="l" t="t" r="r" b="b"/>
              <a:pathLst>
                <a:path w="1685386" h="1762495">
                  <a:moveTo>
                    <a:pt x="0" y="0"/>
                  </a:moveTo>
                  <a:lnTo>
                    <a:pt x="1685386" y="0"/>
                  </a:lnTo>
                  <a:lnTo>
                    <a:pt x="1685386" y="1762495"/>
                  </a:lnTo>
                  <a:lnTo>
                    <a:pt x="0" y="1762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200117" y="756439"/>
              <a:ext cx="1285153" cy="817825"/>
            </a:xfrm>
            <a:custGeom>
              <a:avLst/>
              <a:gdLst/>
              <a:ahLst/>
              <a:cxnLst/>
              <a:rect l="l" t="t" r="r" b="b"/>
              <a:pathLst>
                <a:path w="1285153" h="817825">
                  <a:moveTo>
                    <a:pt x="0" y="0"/>
                  </a:moveTo>
                  <a:lnTo>
                    <a:pt x="1285152" y="0"/>
                  </a:lnTo>
                  <a:lnTo>
                    <a:pt x="1285152" y="817824"/>
                  </a:lnTo>
                  <a:lnTo>
                    <a:pt x="0" y="81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132498" y="848235"/>
              <a:ext cx="1352771" cy="1132946"/>
            </a:xfrm>
            <a:custGeom>
              <a:avLst/>
              <a:gdLst/>
              <a:ahLst/>
              <a:cxnLst/>
              <a:rect l="l" t="t" r="r" b="b"/>
              <a:pathLst>
                <a:path w="1352771" h="1132946">
                  <a:moveTo>
                    <a:pt x="0" y="0"/>
                  </a:moveTo>
                  <a:lnTo>
                    <a:pt x="1352771" y="0"/>
                  </a:lnTo>
                  <a:lnTo>
                    <a:pt x="1352771" y="1132946"/>
                  </a:lnTo>
                  <a:lnTo>
                    <a:pt x="0" y="1132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pic>
        <p:nvPicPr>
          <p:cNvPr id="23" name="Imagem 22">
            <a:extLst>
              <a:ext uri="{FF2B5EF4-FFF2-40B4-BE49-F238E27FC236}">
                <a16:creationId xmlns:a16="http://schemas.microsoft.com/office/drawing/2014/main" id="{1BDD771B-7721-322F-2824-0D26FB3111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84728" y="554653"/>
            <a:ext cx="8291063" cy="40763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B726C-4D5F-BAC7-B464-0CBC72C28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20050FD6-1A75-D91D-6B43-03D2C1B0A284}"/>
              </a:ext>
            </a:extLst>
          </p:cNvPr>
          <p:cNvSpPr/>
          <p:nvPr/>
        </p:nvSpPr>
        <p:spPr>
          <a:xfrm>
            <a:off x="0" y="0"/>
            <a:ext cx="18288000" cy="1028700"/>
          </a:xfrm>
          <a:prstGeom prst="rect">
            <a:avLst/>
          </a:prstGeom>
          <a:solidFill>
            <a:srgbClr val="6B0D0F"/>
          </a:solidFill>
        </p:spPr>
        <p:txBody>
          <a:bodyPr/>
          <a:lstStyle/>
          <a:p>
            <a:endParaRPr lang="pt-BR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8CEF284-4F6A-FA76-71A4-2F2E311AF231}"/>
              </a:ext>
            </a:extLst>
          </p:cNvPr>
          <p:cNvSpPr/>
          <p:nvPr/>
        </p:nvSpPr>
        <p:spPr>
          <a:xfrm>
            <a:off x="17259300" y="0"/>
            <a:ext cx="1028700" cy="10287000"/>
          </a:xfrm>
          <a:prstGeom prst="rect">
            <a:avLst/>
          </a:prstGeom>
          <a:solidFill>
            <a:srgbClr val="6B0D0F"/>
          </a:solidFill>
        </p:spPr>
        <p:txBody>
          <a:bodyPr/>
          <a:lstStyle/>
          <a:p>
            <a:endParaRPr lang="pt-BR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2EE20F10-8132-20C8-1FE0-541E38790B26}"/>
              </a:ext>
            </a:extLst>
          </p:cNvPr>
          <p:cNvGrpSpPr/>
          <p:nvPr/>
        </p:nvGrpSpPr>
        <p:grpSpPr>
          <a:xfrm>
            <a:off x="1028700" y="1827678"/>
            <a:ext cx="14145682" cy="1976161"/>
            <a:chOff x="0" y="-9525"/>
            <a:chExt cx="18860909" cy="2634881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7900E8C-C2B5-3662-4C8A-F09FBC1E1B10}"/>
                </a:ext>
              </a:extLst>
            </p:cNvPr>
            <p:cNvSpPr txBox="1"/>
            <p:nvPr/>
          </p:nvSpPr>
          <p:spPr>
            <a:xfrm>
              <a:off x="0" y="-9525"/>
              <a:ext cx="18860909" cy="1635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9600"/>
                </a:lnSpc>
              </a:pPr>
              <a:r>
                <a:rPr lang="en-US" sz="8000" dirty="0" err="1">
                  <a:solidFill>
                    <a:srgbClr val="6B0D0F"/>
                  </a:solidFill>
                  <a:latin typeface="Muli Bold"/>
                </a:rPr>
                <a:t>Diagrama</a:t>
              </a:r>
              <a:r>
                <a:rPr lang="en-US" sz="8000" dirty="0">
                  <a:solidFill>
                    <a:srgbClr val="6B0D0F"/>
                  </a:solidFill>
                  <a:latin typeface="Muli Bold"/>
                </a:rPr>
                <a:t> da </a:t>
              </a:r>
              <a:r>
                <a:rPr lang="en-US" sz="8000" dirty="0" err="1">
                  <a:solidFill>
                    <a:srgbClr val="6B0D0F"/>
                  </a:solidFill>
                  <a:latin typeface="Muli Bold"/>
                </a:rPr>
                <a:t>proposta</a:t>
              </a:r>
              <a:endParaRPr lang="en-US" sz="8000" dirty="0">
                <a:solidFill>
                  <a:srgbClr val="6B0D0F"/>
                </a:solidFill>
                <a:latin typeface="Muli Bold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90C54898-1C83-1928-EBD3-9E095440C545}"/>
                </a:ext>
              </a:extLst>
            </p:cNvPr>
            <p:cNvSpPr txBox="1"/>
            <p:nvPr/>
          </p:nvSpPr>
          <p:spPr>
            <a:xfrm>
              <a:off x="0" y="1917469"/>
              <a:ext cx="18860909" cy="7078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480"/>
                </a:lnSpc>
              </a:pPr>
              <a:endParaRPr lang="en-US" sz="3200" dirty="0">
                <a:solidFill>
                  <a:srgbClr val="000000"/>
                </a:solidFill>
                <a:latin typeface="Muli" panose="020B0604020202020204" charset="0"/>
              </a:endParaRP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77156115-3767-87FB-21E1-13F97B1CAC81}"/>
              </a:ext>
            </a:extLst>
          </p:cNvPr>
          <p:cNvGrpSpPr/>
          <p:nvPr/>
        </p:nvGrpSpPr>
        <p:grpSpPr>
          <a:xfrm>
            <a:off x="15641551" y="1459566"/>
            <a:ext cx="1150580" cy="1352514"/>
            <a:chOff x="0" y="0"/>
            <a:chExt cx="1534107" cy="1803352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4F07194E-43FE-FFF7-0566-E88E86D7AC28}"/>
                </a:ext>
              </a:extLst>
            </p:cNvPr>
            <p:cNvSpPr/>
            <p:nvPr/>
          </p:nvSpPr>
          <p:spPr>
            <a:xfrm>
              <a:off x="0" y="0"/>
              <a:ext cx="1534107" cy="1604295"/>
            </a:xfrm>
            <a:custGeom>
              <a:avLst/>
              <a:gdLst/>
              <a:ahLst/>
              <a:cxnLst/>
              <a:rect l="l" t="t" r="r" b="b"/>
              <a:pathLst>
                <a:path w="1534107" h="1604295">
                  <a:moveTo>
                    <a:pt x="0" y="0"/>
                  </a:moveTo>
                  <a:lnTo>
                    <a:pt x="1534107" y="0"/>
                  </a:lnTo>
                  <a:lnTo>
                    <a:pt x="1534107" y="1604295"/>
                  </a:lnTo>
                  <a:lnTo>
                    <a:pt x="0" y="1604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5230372A-0B6B-AF2A-19CB-1DD1F53B447A}"/>
                </a:ext>
              </a:extLst>
            </p:cNvPr>
            <p:cNvSpPr/>
            <p:nvPr/>
          </p:nvSpPr>
          <p:spPr>
            <a:xfrm>
              <a:off x="182154" y="688541"/>
              <a:ext cx="1169798" cy="744417"/>
            </a:xfrm>
            <a:custGeom>
              <a:avLst/>
              <a:gdLst/>
              <a:ahLst/>
              <a:cxnLst/>
              <a:rect l="l" t="t" r="r" b="b"/>
              <a:pathLst>
                <a:path w="1169798" h="744417">
                  <a:moveTo>
                    <a:pt x="0" y="0"/>
                  </a:moveTo>
                  <a:lnTo>
                    <a:pt x="1169799" y="0"/>
                  </a:lnTo>
                  <a:lnTo>
                    <a:pt x="1169799" y="744417"/>
                  </a:lnTo>
                  <a:lnTo>
                    <a:pt x="0" y="744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261019C5-3DDF-77D4-DC3E-79BCE9031FC7}"/>
                </a:ext>
              </a:extLst>
            </p:cNvPr>
            <p:cNvSpPr/>
            <p:nvPr/>
          </p:nvSpPr>
          <p:spPr>
            <a:xfrm>
              <a:off x="120605" y="772098"/>
              <a:ext cx="1231347" cy="1031253"/>
            </a:xfrm>
            <a:custGeom>
              <a:avLst/>
              <a:gdLst/>
              <a:ahLst/>
              <a:cxnLst/>
              <a:rect l="l" t="t" r="r" b="b"/>
              <a:pathLst>
                <a:path w="1231347" h="1031253">
                  <a:moveTo>
                    <a:pt x="0" y="0"/>
                  </a:moveTo>
                  <a:lnTo>
                    <a:pt x="1231348" y="0"/>
                  </a:lnTo>
                  <a:lnTo>
                    <a:pt x="1231348" y="1031254"/>
                  </a:lnTo>
                  <a:lnTo>
                    <a:pt x="0" y="10312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6406C8E0-C2D9-E0AD-D572-DBF53AB7D6BA}"/>
              </a:ext>
            </a:extLst>
          </p:cNvPr>
          <p:cNvGrpSpPr/>
          <p:nvPr/>
        </p:nvGrpSpPr>
        <p:grpSpPr>
          <a:xfrm>
            <a:off x="17510693" y="514350"/>
            <a:ext cx="525913" cy="9248109"/>
            <a:chOff x="0" y="0"/>
            <a:chExt cx="701217" cy="12330813"/>
          </a:xfrm>
        </p:grpSpPr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7E554D61-7FA4-E814-3F6D-7A386B43042A}"/>
                </a:ext>
              </a:extLst>
            </p:cNvPr>
            <p:cNvSpPr txBox="1"/>
            <p:nvPr/>
          </p:nvSpPr>
          <p:spPr>
            <a:xfrm rot="5400000">
              <a:off x="-5358770" y="6464736"/>
              <a:ext cx="11390181" cy="3419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00"/>
                </a:lnSpc>
                <a:spcBef>
                  <a:spcPct val="0"/>
                </a:spcBef>
              </a:pPr>
              <a:r>
                <a:rPr lang="en-US" sz="2000" dirty="0">
                  <a:solidFill>
                    <a:srgbClr val="FFFFFF"/>
                  </a:solidFill>
                  <a:latin typeface="Muli"/>
                </a:rPr>
                <a:t>XXV Congresso de Iniciação Científica e Extensão da Católica SC</a:t>
              </a:r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09CF8FD0-0F35-EABD-5DA0-8D0C8A56B4B5}"/>
                </a:ext>
              </a:extLst>
            </p:cNvPr>
            <p:cNvSpPr/>
            <p:nvPr/>
          </p:nvSpPr>
          <p:spPr>
            <a:xfrm rot="5400000">
              <a:off x="10821" y="-10821"/>
              <a:ext cx="679575" cy="701217"/>
            </a:xfrm>
            <a:custGeom>
              <a:avLst/>
              <a:gdLst/>
              <a:ahLst/>
              <a:cxnLst/>
              <a:rect l="l" t="t" r="r" b="b"/>
              <a:pathLst>
                <a:path w="679575" h="701217">
                  <a:moveTo>
                    <a:pt x="0" y="0"/>
                  </a:moveTo>
                  <a:lnTo>
                    <a:pt x="679575" y="0"/>
                  </a:lnTo>
                  <a:lnTo>
                    <a:pt x="679575" y="701217"/>
                  </a:lnTo>
                  <a:lnTo>
                    <a:pt x="0" y="7012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pic>
        <p:nvPicPr>
          <p:cNvPr id="18" name="Imagem 17" descr="Diagrama&#10;&#10;O conteúdo gerado por IA pode estar incorreto.">
            <a:extLst>
              <a:ext uri="{FF2B5EF4-FFF2-40B4-BE49-F238E27FC236}">
                <a16:creationId xmlns:a16="http://schemas.microsoft.com/office/drawing/2014/main" id="{EC8CA54F-EEF5-FAFA-BE4C-876B030AB25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741" y="3426152"/>
            <a:ext cx="12039600" cy="6336308"/>
          </a:xfrm>
          <a:prstGeom prst="rect">
            <a:avLst/>
          </a:prstGeom>
        </p:spPr>
      </p:pic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07054860-D9D1-26F0-F7D8-42B0CABA65D4}"/>
              </a:ext>
            </a:extLst>
          </p:cNvPr>
          <p:cNvCxnSpPr/>
          <p:nvPr/>
        </p:nvCxnSpPr>
        <p:spPr>
          <a:xfrm>
            <a:off x="13182600" y="7295700"/>
            <a:ext cx="0" cy="1008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4476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BBBAB-0559-F836-160A-13B764FC6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C04D696E-84E8-9983-22C3-103417DA3881}"/>
              </a:ext>
            </a:extLst>
          </p:cNvPr>
          <p:cNvSpPr/>
          <p:nvPr/>
        </p:nvSpPr>
        <p:spPr>
          <a:xfrm>
            <a:off x="0" y="0"/>
            <a:ext cx="18288000" cy="1028700"/>
          </a:xfrm>
          <a:prstGeom prst="rect">
            <a:avLst/>
          </a:prstGeom>
          <a:solidFill>
            <a:srgbClr val="6B0D0F"/>
          </a:solidFill>
        </p:spPr>
        <p:txBody>
          <a:bodyPr/>
          <a:lstStyle/>
          <a:p>
            <a:endParaRPr lang="pt-BR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4498685-0937-DBC4-67BE-1CB44409E1DF}"/>
              </a:ext>
            </a:extLst>
          </p:cNvPr>
          <p:cNvSpPr/>
          <p:nvPr/>
        </p:nvSpPr>
        <p:spPr>
          <a:xfrm>
            <a:off x="17259300" y="0"/>
            <a:ext cx="1028700" cy="10287000"/>
          </a:xfrm>
          <a:prstGeom prst="rect">
            <a:avLst/>
          </a:prstGeom>
          <a:solidFill>
            <a:srgbClr val="6B0D0F"/>
          </a:solidFill>
        </p:spPr>
        <p:txBody>
          <a:bodyPr/>
          <a:lstStyle/>
          <a:p>
            <a:endParaRPr lang="pt-BR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38559578-6270-8745-9E57-005472BB0A03}"/>
              </a:ext>
            </a:extLst>
          </p:cNvPr>
          <p:cNvGrpSpPr/>
          <p:nvPr/>
        </p:nvGrpSpPr>
        <p:grpSpPr>
          <a:xfrm>
            <a:off x="609600" y="1017277"/>
            <a:ext cx="14564782" cy="2786562"/>
            <a:chOff x="-558800" y="-1090059"/>
            <a:chExt cx="19419709" cy="3715415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596B089-9C42-4FAC-8929-EEA7A5030770}"/>
                </a:ext>
              </a:extLst>
            </p:cNvPr>
            <p:cNvSpPr txBox="1"/>
            <p:nvPr/>
          </p:nvSpPr>
          <p:spPr>
            <a:xfrm>
              <a:off x="-558800" y="-1090059"/>
              <a:ext cx="18860909" cy="1635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9600"/>
                </a:lnSpc>
              </a:pPr>
              <a:r>
                <a:rPr lang="en-US" sz="8000" dirty="0" err="1">
                  <a:solidFill>
                    <a:srgbClr val="6B0D0F"/>
                  </a:solidFill>
                  <a:latin typeface="Muli Bold"/>
                </a:rPr>
                <a:t>Tabalhos</a:t>
              </a:r>
              <a:r>
                <a:rPr lang="en-US" sz="8000" dirty="0">
                  <a:solidFill>
                    <a:srgbClr val="6B0D0F"/>
                  </a:solidFill>
                  <a:latin typeface="Muli Bold"/>
                </a:rPr>
                <a:t> </a:t>
              </a:r>
              <a:r>
                <a:rPr lang="en-US" sz="8000" dirty="0" err="1">
                  <a:solidFill>
                    <a:srgbClr val="6B0D0F"/>
                  </a:solidFill>
                  <a:latin typeface="Muli Bold"/>
                </a:rPr>
                <a:t>correlatos</a:t>
              </a:r>
              <a:endParaRPr lang="en-US" sz="8000" dirty="0">
                <a:solidFill>
                  <a:srgbClr val="6B0D0F"/>
                </a:solidFill>
                <a:latin typeface="Muli Bold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9B85E16-FEA5-0294-7B11-1AFFA9C405FB}"/>
                </a:ext>
              </a:extLst>
            </p:cNvPr>
            <p:cNvSpPr txBox="1"/>
            <p:nvPr/>
          </p:nvSpPr>
          <p:spPr>
            <a:xfrm>
              <a:off x="0" y="1917469"/>
              <a:ext cx="18860909" cy="7078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480"/>
                </a:lnSpc>
              </a:pPr>
              <a:endParaRPr lang="en-US" sz="3200" dirty="0">
                <a:solidFill>
                  <a:srgbClr val="000000"/>
                </a:solidFill>
                <a:latin typeface="Muli" panose="020B0604020202020204" charset="0"/>
              </a:endParaRP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CEC52406-ABBC-F5D3-4795-ECF49D498B06}"/>
              </a:ext>
            </a:extLst>
          </p:cNvPr>
          <p:cNvGrpSpPr/>
          <p:nvPr/>
        </p:nvGrpSpPr>
        <p:grpSpPr>
          <a:xfrm>
            <a:off x="17510693" y="514350"/>
            <a:ext cx="525913" cy="9248109"/>
            <a:chOff x="0" y="0"/>
            <a:chExt cx="701217" cy="12330813"/>
          </a:xfrm>
        </p:grpSpPr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787D19F-B0F9-80DA-16AF-6C454934F88D}"/>
                </a:ext>
              </a:extLst>
            </p:cNvPr>
            <p:cNvSpPr txBox="1"/>
            <p:nvPr/>
          </p:nvSpPr>
          <p:spPr>
            <a:xfrm rot="5400000">
              <a:off x="-5358770" y="6464736"/>
              <a:ext cx="11390181" cy="3419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00"/>
                </a:lnSpc>
                <a:spcBef>
                  <a:spcPct val="0"/>
                </a:spcBef>
              </a:pPr>
              <a:r>
                <a:rPr lang="en-US" sz="2000" dirty="0">
                  <a:solidFill>
                    <a:srgbClr val="FFFFFF"/>
                  </a:solidFill>
                  <a:latin typeface="Muli"/>
                </a:rPr>
                <a:t>XXV Congresso de Iniciação Científica e Extensão da Católica SC</a:t>
              </a:r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088C20EE-A3B2-6808-A5B0-3954BBEFA504}"/>
                </a:ext>
              </a:extLst>
            </p:cNvPr>
            <p:cNvSpPr/>
            <p:nvPr/>
          </p:nvSpPr>
          <p:spPr>
            <a:xfrm rot="5400000">
              <a:off x="10821" y="-10821"/>
              <a:ext cx="679575" cy="701217"/>
            </a:xfrm>
            <a:custGeom>
              <a:avLst/>
              <a:gdLst/>
              <a:ahLst/>
              <a:cxnLst/>
              <a:rect l="l" t="t" r="r" b="b"/>
              <a:pathLst>
                <a:path w="679575" h="701217">
                  <a:moveTo>
                    <a:pt x="0" y="0"/>
                  </a:moveTo>
                  <a:lnTo>
                    <a:pt x="679575" y="0"/>
                  </a:lnTo>
                  <a:lnTo>
                    <a:pt x="679575" y="701217"/>
                  </a:lnTo>
                  <a:lnTo>
                    <a:pt x="0" y="7012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id="{E3CBE7AF-35AA-C7E4-44F3-F6F2C82ED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1169664"/>
              </p:ext>
            </p:extLst>
          </p:nvPr>
        </p:nvGraphicFramePr>
        <p:xfrm>
          <a:off x="229930" y="2243621"/>
          <a:ext cx="16841673" cy="764160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3112285">
                  <a:extLst>
                    <a:ext uri="{9D8B030D-6E8A-4147-A177-3AD203B41FA5}">
                      <a16:colId xmlns:a16="http://schemas.microsoft.com/office/drawing/2014/main" val="2090794269"/>
                    </a:ext>
                  </a:extLst>
                </a:gridCol>
                <a:gridCol w="2927732">
                  <a:extLst>
                    <a:ext uri="{9D8B030D-6E8A-4147-A177-3AD203B41FA5}">
                      <a16:colId xmlns:a16="http://schemas.microsoft.com/office/drawing/2014/main" val="307089221"/>
                    </a:ext>
                  </a:extLst>
                </a:gridCol>
                <a:gridCol w="2846405">
                  <a:extLst>
                    <a:ext uri="{9D8B030D-6E8A-4147-A177-3AD203B41FA5}">
                      <a16:colId xmlns:a16="http://schemas.microsoft.com/office/drawing/2014/main" val="3476299517"/>
                    </a:ext>
                  </a:extLst>
                </a:gridCol>
                <a:gridCol w="3009058">
                  <a:extLst>
                    <a:ext uri="{9D8B030D-6E8A-4147-A177-3AD203B41FA5}">
                      <a16:colId xmlns:a16="http://schemas.microsoft.com/office/drawing/2014/main" val="3486173343"/>
                    </a:ext>
                  </a:extLst>
                </a:gridCol>
                <a:gridCol w="2660192">
                  <a:extLst>
                    <a:ext uri="{9D8B030D-6E8A-4147-A177-3AD203B41FA5}">
                      <a16:colId xmlns:a16="http://schemas.microsoft.com/office/drawing/2014/main" val="368198285"/>
                    </a:ext>
                  </a:extLst>
                </a:gridCol>
                <a:gridCol w="2286001">
                  <a:extLst>
                    <a:ext uri="{9D8B030D-6E8A-4147-A177-3AD203B41FA5}">
                      <a16:colId xmlns:a16="http://schemas.microsoft.com/office/drawing/2014/main" val="983551973"/>
                    </a:ext>
                  </a:extLst>
                </a:gridCol>
              </a:tblGrid>
              <a:tr h="936000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>
                          <a:latin typeface="Muli Bold" panose="020B0604020202020204" charset="0"/>
                        </a:rPr>
                        <a:t>Nome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1" dirty="0">
                          <a:latin typeface="Muli Bold" panose="020B0604020202020204" charset="0"/>
                        </a:rPr>
                        <a:t>Tipo de Ferramenta/Aplicação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1" dirty="0">
                          <a:latin typeface="Muli Bold" panose="020B0604020202020204" charset="0"/>
                        </a:rPr>
                        <a:t>Foco principal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1" dirty="0">
                          <a:latin typeface="Muli Bold" panose="020B0604020202020204" charset="0"/>
                        </a:rPr>
                        <a:t>O Que oferece?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1" dirty="0">
                          <a:latin typeface="Muli Bold" panose="020B0604020202020204" charset="0"/>
                        </a:rPr>
                        <a:t>Desvantagens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1" dirty="0">
                          <a:latin typeface="Muli Bold" panose="020B0604020202020204" charset="0"/>
                        </a:rPr>
                        <a:t>Como a </a:t>
                      </a:r>
                      <a:r>
                        <a:rPr lang="pt-BR" sz="1800" b="1" dirty="0" err="1">
                          <a:latin typeface="Muli Bold" panose="020B0604020202020204" charset="0"/>
                        </a:rPr>
                        <a:t>FinQuest</a:t>
                      </a:r>
                      <a:r>
                        <a:rPr lang="pt-BR" sz="1800" b="1" dirty="0">
                          <a:latin typeface="Muli Bold" panose="020B0604020202020204" charset="0"/>
                        </a:rPr>
                        <a:t> difere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6218449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err="1">
                          <a:latin typeface="Muli" panose="020B0604020202020204" charset="0"/>
                        </a:rPr>
                        <a:t>TradeMap</a:t>
                      </a:r>
                      <a:r>
                        <a:rPr lang="pt-BR" sz="1800" dirty="0">
                          <a:latin typeface="Muli" panose="020B0604020202020204" charset="0"/>
                        </a:rPr>
                        <a:t> (App)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>
                          <a:latin typeface="Muli" panose="020B0604020202020204" charset="0"/>
                        </a:rPr>
                        <a:t>Produto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>
                          <a:latin typeface="Muli" panose="020B0604020202020204" charset="0"/>
                        </a:rPr>
                        <a:t>Consolidação e monitoramento de ações + </a:t>
                      </a:r>
                      <a:r>
                        <a:rPr lang="pt-BR" sz="1800" dirty="0" err="1">
                          <a:latin typeface="Muli" panose="020B0604020202020204" charset="0"/>
                        </a:rPr>
                        <a:t>multibroker</a:t>
                      </a:r>
                      <a:endParaRPr lang="pt-BR" sz="1800" dirty="0">
                        <a:latin typeface="Muli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>
                          <a:latin typeface="Muli" panose="020B0604020202020204" charset="0"/>
                        </a:rPr>
                        <a:t>Integração com corretoras, cotações e notícias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>
                          <a:latin typeface="Muli" panose="020B0604020202020204" charset="0"/>
                        </a:rPr>
                        <a:t>Educação financeira e cálculos não são foco, apenas informação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>
                          <a:latin typeface="Muli" panose="020B0604020202020204" charset="0"/>
                        </a:rPr>
                        <a:t>Planos personalizados para cada investidor + copiloto.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3824240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err="1">
                          <a:latin typeface="Muli" panose="020B0604020202020204" charset="0"/>
                        </a:rPr>
                        <a:t>Kinvo</a:t>
                      </a:r>
                      <a:r>
                        <a:rPr lang="pt-BR" sz="1800" dirty="0">
                          <a:latin typeface="Muli" panose="020B0604020202020204" charset="0"/>
                        </a:rPr>
                        <a:t> (App)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>
                          <a:latin typeface="Muli" panose="020B0604020202020204" charset="0"/>
                        </a:rPr>
                        <a:t>Produto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err="1">
                          <a:latin typeface="Muli" panose="020B0604020202020204" charset="0"/>
                        </a:rPr>
                        <a:t>Consolidaçõ</a:t>
                      </a:r>
                      <a:r>
                        <a:rPr lang="pt-BR" sz="1800" dirty="0">
                          <a:latin typeface="Muli" panose="020B0604020202020204" charset="0"/>
                        </a:rPr>
                        <a:t> e análise de patrimônio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>
                          <a:latin typeface="Muli" panose="020B0604020202020204" charset="0"/>
                        </a:rPr>
                        <a:t>Carteiras, metas e comparação com benchmarks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>
                          <a:latin typeface="Muli" panose="020B0604020202020204" charset="0"/>
                        </a:rPr>
                        <a:t>Não apresenta gamificação para aprendizado,  feedbacks e educação.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>
                          <a:latin typeface="Muli" panose="020B0604020202020204" charset="0"/>
                        </a:rPr>
                        <a:t>Missões, scores integrados e educação financeira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2362405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>
                          <a:latin typeface="Muli" panose="020B0604020202020204" charset="0"/>
                        </a:rPr>
                        <a:t>Nubank/</a:t>
                      </a:r>
                      <a:r>
                        <a:rPr lang="pt-BR" sz="1800" dirty="0" err="1">
                          <a:latin typeface="Muli" panose="020B0604020202020204" charset="0"/>
                        </a:rPr>
                        <a:t>NuInvest</a:t>
                      </a:r>
                      <a:endParaRPr lang="pt-BR" sz="1800" dirty="0">
                        <a:latin typeface="Muli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>
                          <a:latin typeface="Muli" panose="020B0604020202020204" charset="0"/>
                        </a:rPr>
                        <a:t>Produto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>
                          <a:latin typeface="Muli" panose="020B0604020202020204" charset="0"/>
                        </a:rPr>
                        <a:t>Execução e acompanhamento dos investimentos, no app do banco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>
                          <a:latin typeface="Muli" panose="020B0604020202020204" charset="0"/>
                        </a:rPr>
                        <a:t>Produtos variados, monitoramento e operação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>
                          <a:latin typeface="Muli" panose="020B0604020202020204" charset="0"/>
                        </a:rPr>
                        <a:t>Educação gamificada, cálculos sobre investimentos não são foco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>
                          <a:latin typeface="Muli" panose="020B0604020202020204" charset="0"/>
                        </a:rPr>
                        <a:t>Educação aplicada, calculadoras e divisões recomendadas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690692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Muli" panose="020B0604020202020204" charset="0"/>
                        </a:rPr>
                        <a:t>Financial education affects financial knowledge and behavior; (Journal of Economic Behavior &amp; Organization / NBER Working Paper 27057).</a:t>
                      </a:r>
                      <a:endParaRPr lang="pt-BR" sz="1600" dirty="0">
                        <a:latin typeface="Muli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>
                          <a:latin typeface="Muli" panose="020B0604020202020204" charset="0"/>
                        </a:rPr>
                        <a:t>Artigo Científico (</a:t>
                      </a:r>
                      <a:r>
                        <a:rPr lang="pt-BR" sz="1800" dirty="0" err="1">
                          <a:latin typeface="Muli" panose="020B0604020202020204" charset="0"/>
                        </a:rPr>
                        <a:t>National</a:t>
                      </a:r>
                      <a:r>
                        <a:rPr lang="pt-BR" sz="1800" dirty="0">
                          <a:latin typeface="Muli" panose="020B0604020202020204" charset="0"/>
                        </a:rPr>
                        <a:t> </a:t>
                      </a:r>
                      <a:r>
                        <a:rPr lang="pt-BR" sz="1800" dirty="0" err="1">
                          <a:latin typeface="Muli" panose="020B0604020202020204" charset="0"/>
                        </a:rPr>
                        <a:t>Boreau</a:t>
                      </a:r>
                      <a:r>
                        <a:rPr lang="pt-BR" sz="1800" dirty="0">
                          <a:latin typeface="Muli" panose="020B0604020202020204" charset="0"/>
                        </a:rPr>
                        <a:t> </a:t>
                      </a:r>
                      <a:r>
                        <a:rPr lang="pt-BR" sz="1800" dirty="0" err="1">
                          <a:latin typeface="Muli" panose="020B0604020202020204" charset="0"/>
                        </a:rPr>
                        <a:t>of</a:t>
                      </a:r>
                      <a:r>
                        <a:rPr lang="pt-BR" sz="1800" dirty="0">
                          <a:latin typeface="Muli" panose="020B0604020202020204" charset="0"/>
                        </a:rPr>
                        <a:t> Economic </a:t>
                      </a:r>
                      <a:r>
                        <a:rPr lang="pt-BR" sz="1800" dirty="0" err="1">
                          <a:latin typeface="Muli" panose="020B0604020202020204" charset="0"/>
                        </a:rPr>
                        <a:t>Research</a:t>
                      </a:r>
                      <a:r>
                        <a:rPr lang="pt-BR" sz="1800" dirty="0">
                          <a:latin typeface="Muli" panose="020B0604020202020204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>
                          <a:latin typeface="Muli" panose="020B0604020202020204" charset="0"/>
                        </a:rPr>
                        <a:t>Meta-análise </a:t>
                      </a:r>
                    </a:p>
                    <a:p>
                      <a:pPr algn="ctr"/>
                      <a:r>
                        <a:rPr lang="pt-BR" b="0" dirty="0">
                          <a:latin typeface="Muli" panose="020B0604020202020204" charset="0"/>
                        </a:rPr>
                        <a:t>(ênfase em experimentos sobre educação financeira)</a:t>
                      </a:r>
                      <a:endParaRPr lang="pt-BR" sz="1800" b="0" dirty="0">
                        <a:latin typeface="Muli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>
                          <a:latin typeface="Muli" panose="020B0604020202020204" charset="0"/>
                        </a:rPr>
                        <a:t>Aumenta conhecimento e melhora comportamentos financeiros</a:t>
                      </a:r>
                      <a:endParaRPr lang="pt-BR" sz="1800" b="0" dirty="0">
                        <a:latin typeface="Muli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>
                          <a:latin typeface="Muli" panose="020B0604020202020204" charset="0"/>
                        </a:rPr>
                        <a:t>Pouca integração entre conteúdo e prática guiada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0" dirty="0">
                          <a:latin typeface="Muli" panose="020B0604020202020204" charset="0"/>
                        </a:rPr>
                        <a:t>Planos personalizados, criação de rotinas estilo </a:t>
                      </a:r>
                      <a:r>
                        <a:rPr lang="pt-BR" sz="1600" b="1" dirty="0" err="1">
                          <a:latin typeface="Muli" panose="020B0604020202020204" charset="0"/>
                        </a:rPr>
                        <a:t>Duolingo</a:t>
                      </a:r>
                      <a:r>
                        <a:rPr lang="pt-BR" sz="1600" b="0" dirty="0">
                          <a:latin typeface="Muli" panose="020B0604020202020204" charset="0"/>
                        </a:rPr>
                        <a:t> métricas para medir evolução do usuário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7734199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Muli" panose="020B0604020202020204" charset="0"/>
                        </a:rPr>
                        <a:t>The impact of an online game-based financial education course: Multi-country experimental evidence. </a:t>
                      </a:r>
                      <a:endParaRPr lang="pt-BR" sz="1600" b="0" i="0" dirty="0">
                        <a:latin typeface="Muli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>
                          <a:latin typeface="Muli" panose="020B0604020202020204" charset="0"/>
                        </a:rPr>
                        <a:t>Artigo Científico</a:t>
                      </a:r>
                    </a:p>
                    <a:p>
                      <a:pPr algn="ctr"/>
                      <a:r>
                        <a:rPr lang="pt-BR" sz="1800" dirty="0">
                          <a:latin typeface="Muli" panose="020B0604020202020204" charset="0"/>
                        </a:rPr>
                        <a:t>(</a:t>
                      </a:r>
                      <a:r>
                        <a:rPr lang="en-US" sz="1800" b="0" i="0" dirty="0">
                          <a:latin typeface="Muli" panose="020B0604020202020204" charset="0"/>
                        </a:rPr>
                        <a:t>Journal of Comparative Economics.)</a:t>
                      </a:r>
                      <a:endParaRPr lang="pt-BR" sz="1800" dirty="0">
                        <a:latin typeface="Muli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>
                          <a:latin typeface="Muli" panose="020B0604020202020204" charset="0"/>
                        </a:rPr>
                        <a:t>RCT </a:t>
                      </a:r>
                      <a:r>
                        <a:rPr lang="pt-BR" b="0" dirty="0" err="1">
                          <a:latin typeface="Muli" panose="020B0604020202020204" charset="0"/>
                        </a:rPr>
                        <a:t>multi-país</a:t>
                      </a:r>
                      <a:r>
                        <a:rPr lang="pt-BR" b="0" dirty="0">
                          <a:latin typeface="Muli" panose="020B0604020202020204" charset="0"/>
                        </a:rPr>
                        <a:t> (≈2.200 alunos) com curso/jogo on-line de educação financeira</a:t>
                      </a:r>
                      <a:endParaRPr lang="pt-BR" sz="1800" b="0" dirty="0">
                        <a:latin typeface="Muli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i="0" dirty="0">
                          <a:latin typeface="Muli" panose="020B0604020202020204" charset="0"/>
                        </a:rPr>
                        <a:t>Aumento significativo da literacia financeira após essa educação</a:t>
                      </a:r>
                      <a:endParaRPr lang="pt-BR" sz="1800" b="0" i="0" dirty="0">
                        <a:latin typeface="Muli" panose="020B06040202020202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="0" dirty="0">
                          <a:latin typeface="Muli" panose="020B0604020202020204" charset="0"/>
                        </a:rPr>
                        <a:t>Menor ênfase em práticas curta com rotina e explicabilidade das regras quase nula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0" dirty="0">
                          <a:latin typeface="Muli" panose="020B0604020202020204" charset="0"/>
                        </a:rPr>
                        <a:t>Missões com regras transparentes, relatório antes/depois e incentivos as práticas curtas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99314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0489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B0D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2AEB4E-A9F8-4122-9FEF-7B20A2505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>
            <a:extLst>
              <a:ext uri="{FF2B5EF4-FFF2-40B4-BE49-F238E27FC236}">
                <a16:creationId xmlns:a16="http://schemas.microsoft.com/office/drawing/2014/main" id="{33437C1B-B83B-D503-5D8C-B9E1087C64E3}"/>
              </a:ext>
            </a:extLst>
          </p:cNvPr>
          <p:cNvSpPr txBox="1"/>
          <p:nvPr/>
        </p:nvSpPr>
        <p:spPr>
          <a:xfrm>
            <a:off x="1999666" y="5012176"/>
            <a:ext cx="17431334" cy="46070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91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uli" panose="020B0604020202020204" charset="0"/>
                <a:ea typeface="+mn-ea"/>
                <a:cs typeface="Arial" panose="020B0604020202020204" pitchFamily="34" charset="0"/>
              </a:rPr>
              <a:t>Resultados esperados:</a:t>
            </a:r>
          </a:p>
          <a:p>
            <a:pPr marL="0" marR="0" lvl="0" indent="0" algn="l" defTabSz="914400" rtl="0" eaLnBrk="1" fontAlgn="auto" latinLnBrk="0" hangingPunct="1">
              <a:lnSpc>
                <a:spcPts val="391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uli" panose="020B0604020202020204" charset="0"/>
              <a:ea typeface="+mn-ea"/>
              <a:cs typeface="Arial" panose="020B0604020202020204" pitchFamily="34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3200" b="1" dirty="0">
                <a:solidFill>
                  <a:prstClr val="white"/>
                </a:solidFill>
                <a:latin typeface="Muli" panose="020B0604020202020204" charset="0"/>
                <a:cs typeface="Arial" panose="020B0604020202020204" pitchFamily="34" charset="0"/>
              </a:rPr>
              <a:t>Ajudar as pessoas a lidar com o dinheiro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uli" panose="020B0604020202020204" charset="0"/>
                <a:ea typeface="+mn-ea"/>
                <a:cs typeface="Arial" panose="020B0604020202020204" pitchFamily="34" charset="0"/>
              </a:rPr>
              <a:t>Mais acertos no quiz (</a:t>
            </a:r>
            <a:r>
              <a:rPr kumimoji="0" lang="pt-BR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uli" panose="020B0604020202020204" charset="0"/>
                <a:ea typeface="+mn-ea"/>
                <a:cs typeface="Arial" panose="020B0604020202020204" pitchFamily="34" charset="0"/>
              </a:rPr>
              <a:t>pré</a:t>
            </a:r>
            <a:r>
              <a:rPr kumimoji="0" lang="pt-B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uli" panose="020B0604020202020204" charset="0"/>
                <a:ea typeface="+mn-ea"/>
                <a:cs typeface="Arial" panose="020B0604020202020204" pitchFamily="34" charset="0"/>
              </a:rPr>
              <a:t>/pós)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uli" panose="020B0604020202020204" charset="0"/>
                <a:ea typeface="+mn-ea"/>
                <a:cs typeface="Arial" panose="020B0604020202020204" pitchFamily="34" charset="0"/>
              </a:rPr>
              <a:t>Menos dificuldade ao investir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uli" panose="020B0604020202020204" charset="0"/>
                <a:ea typeface="+mn-ea"/>
                <a:cs typeface="Arial" panose="020B0604020202020204" pitchFamily="34" charset="0"/>
              </a:rPr>
              <a:t>Adesão às missões semanais e uso do Copiloto.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3200" b="1" dirty="0">
                <a:solidFill>
                  <a:prstClr val="white"/>
                </a:solidFill>
                <a:latin typeface="Muli" panose="020B0604020202020204" charset="0"/>
                <a:cs typeface="Arial" panose="020B0604020202020204" pitchFamily="34" charset="0"/>
              </a:rPr>
              <a:t>Criação de rotinas financeiras</a:t>
            </a:r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702E8834-20A7-6990-2397-297299BB1E5C}"/>
              </a:ext>
            </a:extLst>
          </p:cNvPr>
          <p:cNvSpPr/>
          <p:nvPr/>
        </p:nvSpPr>
        <p:spPr>
          <a:xfrm>
            <a:off x="0" y="0"/>
            <a:ext cx="1028700" cy="10287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2FA6B194-2E11-715D-EFE3-9B15490F0C56}"/>
              </a:ext>
            </a:extLst>
          </p:cNvPr>
          <p:cNvGrpSpPr/>
          <p:nvPr/>
        </p:nvGrpSpPr>
        <p:grpSpPr>
          <a:xfrm>
            <a:off x="244672" y="554653"/>
            <a:ext cx="539356" cy="9177694"/>
            <a:chOff x="0" y="0"/>
            <a:chExt cx="719141" cy="12236925"/>
          </a:xfrm>
        </p:grpSpPr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8E0D40C7-4DB9-CCD3-57DD-EB91E354F9B9}"/>
                </a:ext>
              </a:extLst>
            </p:cNvPr>
            <p:cNvSpPr txBox="1"/>
            <p:nvPr/>
          </p:nvSpPr>
          <p:spPr>
            <a:xfrm rot="16200000">
              <a:off x="-5303245" y="5524104"/>
              <a:ext cx="11390181" cy="3419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2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6B0D0F"/>
                  </a:solidFill>
                  <a:effectLst/>
                  <a:uLnTx/>
                  <a:uFillTx/>
                  <a:latin typeface="Muli"/>
                  <a:ea typeface="+mn-ea"/>
                  <a:cs typeface="+mn-cs"/>
                </a:rPr>
                <a:t>XXV Congresso de Iniciação Científica e Extensão da Católica SC</a:t>
              </a:r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4B048658-0859-6902-CFCA-A4351DAAB736}"/>
                </a:ext>
              </a:extLst>
            </p:cNvPr>
            <p:cNvSpPr/>
            <p:nvPr/>
          </p:nvSpPr>
          <p:spPr>
            <a:xfrm rot="-5400000">
              <a:off x="12399" y="11530183"/>
              <a:ext cx="694343" cy="719141"/>
            </a:xfrm>
            <a:custGeom>
              <a:avLst/>
              <a:gdLst/>
              <a:ahLst/>
              <a:cxnLst/>
              <a:rect l="l" t="t" r="r" b="b"/>
              <a:pathLst>
                <a:path w="694343" h="719141">
                  <a:moveTo>
                    <a:pt x="0" y="0"/>
                  </a:moveTo>
                  <a:lnTo>
                    <a:pt x="694343" y="0"/>
                  </a:lnTo>
                  <a:lnTo>
                    <a:pt x="694343" y="719141"/>
                  </a:lnTo>
                  <a:lnTo>
                    <a:pt x="0" y="719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9404" t="-47701" r="-98955" b="-107955"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3A1D0BDF-D7EE-5369-3E3F-B7D3430C1781}"/>
              </a:ext>
            </a:extLst>
          </p:cNvPr>
          <p:cNvGrpSpPr/>
          <p:nvPr/>
        </p:nvGrpSpPr>
        <p:grpSpPr>
          <a:xfrm>
            <a:off x="15995260" y="3270996"/>
            <a:ext cx="1264040" cy="1485886"/>
            <a:chOff x="0" y="0"/>
            <a:chExt cx="1685386" cy="1981181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0A7FA485-F911-5BD2-AA9B-A4BCF834AB59}"/>
                </a:ext>
              </a:extLst>
            </p:cNvPr>
            <p:cNvSpPr/>
            <p:nvPr/>
          </p:nvSpPr>
          <p:spPr>
            <a:xfrm>
              <a:off x="0" y="0"/>
              <a:ext cx="1685386" cy="1762495"/>
            </a:xfrm>
            <a:custGeom>
              <a:avLst/>
              <a:gdLst/>
              <a:ahLst/>
              <a:cxnLst/>
              <a:rect l="l" t="t" r="r" b="b"/>
              <a:pathLst>
                <a:path w="1685386" h="1762495">
                  <a:moveTo>
                    <a:pt x="0" y="0"/>
                  </a:moveTo>
                  <a:lnTo>
                    <a:pt x="1685386" y="0"/>
                  </a:lnTo>
                  <a:lnTo>
                    <a:pt x="1685386" y="1762495"/>
                  </a:lnTo>
                  <a:lnTo>
                    <a:pt x="0" y="1762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91D628D1-04A3-4C2E-B02A-5CFBFD661A2A}"/>
                </a:ext>
              </a:extLst>
            </p:cNvPr>
            <p:cNvSpPr/>
            <p:nvPr/>
          </p:nvSpPr>
          <p:spPr>
            <a:xfrm>
              <a:off x="200117" y="756439"/>
              <a:ext cx="1285153" cy="817825"/>
            </a:xfrm>
            <a:custGeom>
              <a:avLst/>
              <a:gdLst/>
              <a:ahLst/>
              <a:cxnLst/>
              <a:rect l="l" t="t" r="r" b="b"/>
              <a:pathLst>
                <a:path w="1285153" h="817825">
                  <a:moveTo>
                    <a:pt x="0" y="0"/>
                  </a:moveTo>
                  <a:lnTo>
                    <a:pt x="1285152" y="0"/>
                  </a:lnTo>
                  <a:lnTo>
                    <a:pt x="1285152" y="817824"/>
                  </a:lnTo>
                  <a:lnTo>
                    <a:pt x="0" y="81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B1FA451C-C3F6-2F05-DF4D-4A2ECAB18024}"/>
                </a:ext>
              </a:extLst>
            </p:cNvPr>
            <p:cNvSpPr/>
            <p:nvPr/>
          </p:nvSpPr>
          <p:spPr>
            <a:xfrm>
              <a:off x="132498" y="848235"/>
              <a:ext cx="1352771" cy="1132946"/>
            </a:xfrm>
            <a:custGeom>
              <a:avLst/>
              <a:gdLst/>
              <a:ahLst/>
              <a:cxnLst/>
              <a:rect l="l" t="t" r="r" b="b"/>
              <a:pathLst>
                <a:path w="1352771" h="1132946">
                  <a:moveTo>
                    <a:pt x="0" y="0"/>
                  </a:moveTo>
                  <a:lnTo>
                    <a:pt x="1352771" y="0"/>
                  </a:lnTo>
                  <a:lnTo>
                    <a:pt x="1352771" y="1132946"/>
                  </a:lnTo>
                  <a:lnTo>
                    <a:pt x="0" y="1132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extBox 4">
            <a:extLst>
              <a:ext uri="{FF2B5EF4-FFF2-40B4-BE49-F238E27FC236}">
                <a16:creationId xmlns:a16="http://schemas.microsoft.com/office/drawing/2014/main" id="{CC2113E2-95EB-3028-90A6-43C698101412}"/>
              </a:ext>
            </a:extLst>
          </p:cNvPr>
          <p:cNvSpPr txBox="1"/>
          <p:nvPr/>
        </p:nvSpPr>
        <p:spPr>
          <a:xfrm>
            <a:off x="1975085" y="1368623"/>
            <a:ext cx="9535357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9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uli Heavy"/>
                <a:ea typeface="+mn-ea"/>
                <a:cs typeface="+mn-cs"/>
              </a:rPr>
              <a:t>Conclusão</a:t>
            </a:r>
            <a:endParaRPr kumimoji="0" lang="en-US" sz="8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uli Heavy"/>
              <a:ea typeface="+mn-ea"/>
              <a:cs typeface="+mn-cs"/>
            </a:endParaRP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0DD9A2EE-E832-C63C-237E-C66E0901149A}"/>
              </a:ext>
            </a:extLst>
          </p:cNvPr>
          <p:cNvSpPr txBox="1"/>
          <p:nvPr/>
        </p:nvSpPr>
        <p:spPr>
          <a:xfrm>
            <a:off x="1999666" y="3019833"/>
            <a:ext cx="14145682" cy="1129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4480"/>
              </a:lnSpc>
            </a:pPr>
            <a:r>
              <a:rPr lang="pt-BR" sz="3600" b="1" dirty="0">
                <a:solidFill>
                  <a:schemeClr val="bg1"/>
                </a:solidFill>
                <a:latin typeface="Muli" panose="020B0604020202020204" charset="0"/>
              </a:rPr>
              <a:t>Contribuições:</a:t>
            </a:r>
            <a:r>
              <a:rPr lang="pt-BR" sz="3600" dirty="0">
                <a:solidFill>
                  <a:schemeClr val="bg1"/>
                </a:solidFill>
                <a:latin typeface="Muli" panose="020B0604020202020204" charset="0"/>
              </a:rPr>
              <a:t> transformar teoria em </a:t>
            </a:r>
            <a:r>
              <a:rPr lang="pt-BR" sz="3600" b="1" dirty="0">
                <a:solidFill>
                  <a:schemeClr val="bg1"/>
                </a:solidFill>
                <a:latin typeface="Muli" panose="020B0604020202020204" charset="0"/>
              </a:rPr>
              <a:t>ação prática</a:t>
            </a:r>
            <a:r>
              <a:rPr lang="pt-BR" sz="3600" dirty="0">
                <a:solidFill>
                  <a:schemeClr val="bg1"/>
                </a:solidFill>
                <a:latin typeface="Muli" panose="020B0604020202020204" charset="0"/>
              </a:rPr>
              <a:t>; </a:t>
            </a:r>
            <a:r>
              <a:rPr lang="pt-BR" sz="3600" b="1" dirty="0">
                <a:solidFill>
                  <a:schemeClr val="bg1"/>
                </a:solidFill>
                <a:latin typeface="Muli" panose="020B0604020202020204" charset="0"/>
              </a:rPr>
              <a:t>explicabilidade</a:t>
            </a:r>
            <a:r>
              <a:rPr lang="pt-BR" sz="3600" dirty="0">
                <a:solidFill>
                  <a:schemeClr val="bg1"/>
                </a:solidFill>
                <a:latin typeface="Muli" panose="020B0604020202020204" charset="0"/>
              </a:rPr>
              <a:t> nas recomendações; </a:t>
            </a:r>
            <a:r>
              <a:rPr lang="pt-BR" sz="3600" b="1" dirty="0">
                <a:solidFill>
                  <a:schemeClr val="bg1"/>
                </a:solidFill>
                <a:latin typeface="Muli" panose="020B0604020202020204" charset="0"/>
              </a:rPr>
              <a:t>medir</a:t>
            </a:r>
            <a:r>
              <a:rPr lang="pt-BR" sz="3600" dirty="0">
                <a:solidFill>
                  <a:schemeClr val="bg1"/>
                </a:solidFill>
                <a:latin typeface="Muli" panose="020B0604020202020204" charset="0"/>
              </a:rPr>
              <a:t> aprendizado, risco e hábito.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uli" panose="020B060402020202020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7279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B0D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745486" y="2324033"/>
            <a:ext cx="4797028" cy="5638935"/>
            <a:chOff x="0" y="0"/>
            <a:chExt cx="6396037" cy="75185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96037" cy="6688667"/>
            </a:xfrm>
            <a:custGeom>
              <a:avLst/>
              <a:gdLst/>
              <a:ahLst/>
              <a:cxnLst/>
              <a:rect l="l" t="t" r="r" b="b"/>
              <a:pathLst>
                <a:path w="6396037" h="6688667">
                  <a:moveTo>
                    <a:pt x="0" y="0"/>
                  </a:moveTo>
                  <a:lnTo>
                    <a:pt x="6396037" y="0"/>
                  </a:lnTo>
                  <a:lnTo>
                    <a:pt x="6396037" y="6688667"/>
                  </a:lnTo>
                  <a:lnTo>
                    <a:pt x="0" y="6688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Freeform 4"/>
            <p:cNvSpPr/>
            <p:nvPr/>
          </p:nvSpPr>
          <p:spPr>
            <a:xfrm>
              <a:off x="759442" y="2870683"/>
              <a:ext cx="4877153" cy="3103643"/>
            </a:xfrm>
            <a:custGeom>
              <a:avLst/>
              <a:gdLst/>
              <a:ahLst/>
              <a:cxnLst/>
              <a:rect l="l" t="t" r="r" b="b"/>
              <a:pathLst>
                <a:path w="4877153" h="3103643">
                  <a:moveTo>
                    <a:pt x="0" y="0"/>
                  </a:moveTo>
                  <a:lnTo>
                    <a:pt x="4877153" y="0"/>
                  </a:lnTo>
                  <a:lnTo>
                    <a:pt x="4877153" y="3103643"/>
                  </a:lnTo>
                  <a:lnTo>
                    <a:pt x="0" y="31036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Freeform 5"/>
            <p:cNvSpPr/>
            <p:nvPr/>
          </p:nvSpPr>
          <p:spPr>
            <a:xfrm>
              <a:off x="502830" y="3219051"/>
              <a:ext cx="5133765" cy="4299528"/>
            </a:xfrm>
            <a:custGeom>
              <a:avLst/>
              <a:gdLst/>
              <a:ahLst/>
              <a:cxnLst/>
              <a:rect l="l" t="t" r="r" b="b"/>
              <a:pathLst>
                <a:path w="5133765" h="4299528">
                  <a:moveTo>
                    <a:pt x="0" y="0"/>
                  </a:moveTo>
                  <a:lnTo>
                    <a:pt x="5133765" y="0"/>
                  </a:lnTo>
                  <a:lnTo>
                    <a:pt x="5133765" y="4299529"/>
                  </a:lnTo>
                  <a:lnTo>
                    <a:pt x="0" y="42995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B0D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A3600D-5E97-2E4C-8690-CD5758FDC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DB2017A-BBF6-6A20-431A-9393516BD7D2}"/>
              </a:ext>
            </a:extLst>
          </p:cNvPr>
          <p:cNvSpPr/>
          <p:nvPr/>
        </p:nvSpPr>
        <p:spPr>
          <a:xfrm>
            <a:off x="-123699" y="-205425"/>
            <a:ext cx="3230456" cy="5747767"/>
          </a:xfrm>
          <a:custGeom>
            <a:avLst/>
            <a:gdLst/>
            <a:ahLst/>
            <a:cxnLst/>
            <a:rect l="l" t="t" r="r" b="b"/>
            <a:pathLst>
              <a:path w="3230456" h="5747767">
                <a:moveTo>
                  <a:pt x="0" y="0"/>
                </a:moveTo>
                <a:lnTo>
                  <a:pt x="3230455" y="0"/>
                </a:lnTo>
                <a:lnTo>
                  <a:pt x="3230455" y="5747767"/>
                </a:lnTo>
                <a:lnTo>
                  <a:pt x="0" y="57477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5493" t="-9023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EFA233E-7225-E1F0-72B9-849CC18AC083}"/>
              </a:ext>
            </a:extLst>
          </p:cNvPr>
          <p:cNvSpPr/>
          <p:nvPr/>
        </p:nvSpPr>
        <p:spPr>
          <a:xfrm>
            <a:off x="15417049" y="6791992"/>
            <a:ext cx="2931689" cy="3558262"/>
          </a:xfrm>
          <a:custGeom>
            <a:avLst/>
            <a:gdLst/>
            <a:ahLst/>
            <a:cxnLst/>
            <a:rect l="l" t="t" r="r" b="b"/>
            <a:pathLst>
              <a:path w="2931689" h="3558262">
                <a:moveTo>
                  <a:pt x="0" y="0"/>
                </a:moveTo>
                <a:lnTo>
                  <a:pt x="2931690" y="0"/>
                </a:lnTo>
                <a:lnTo>
                  <a:pt x="2931690" y="3558262"/>
                </a:lnTo>
                <a:lnTo>
                  <a:pt x="0" y="35582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104397" b="-76109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112F415E-4D55-8ECF-A856-C0D2AE46D381}"/>
              </a:ext>
            </a:extLst>
          </p:cNvPr>
          <p:cNvGrpSpPr/>
          <p:nvPr/>
        </p:nvGrpSpPr>
        <p:grpSpPr>
          <a:xfrm>
            <a:off x="0" y="3723402"/>
            <a:ext cx="18288000" cy="4771156"/>
            <a:chOff x="0" y="0"/>
            <a:chExt cx="24384000" cy="6361540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3ECC1C92-B404-F18B-19D2-CD54B468E6A8}"/>
                </a:ext>
              </a:extLst>
            </p:cNvPr>
            <p:cNvGrpSpPr/>
            <p:nvPr/>
          </p:nvGrpSpPr>
          <p:grpSpPr>
            <a:xfrm>
              <a:off x="0" y="0"/>
              <a:ext cx="24384000" cy="4894361"/>
              <a:chOff x="0" y="0"/>
              <a:chExt cx="4816593" cy="966787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F48CE5A4-94BD-93C7-FBAF-5D5269D08675}"/>
                  </a:ext>
                </a:extLst>
              </p:cNvPr>
              <p:cNvSpPr/>
              <p:nvPr/>
            </p:nvSpPr>
            <p:spPr>
              <a:xfrm>
                <a:off x="0" y="0"/>
                <a:ext cx="4816592" cy="966787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966787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966787"/>
                    </a:lnTo>
                    <a:lnTo>
                      <a:pt x="0" y="966787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13F87BD4-470A-D2B0-64CC-D72358A306D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659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0505263A-2C1C-5982-D244-8ECD13E2DDE9}"/>
                </a:ext>
              </a:extLst>
            </p:cNvPr>
            <p:cNvSpPr txBox="1"/>
            <p:nvPr/>
          </p:nvSpPr>
          <p:spPr>
            <a:xfrm>
              <a:off x="3493636" y="418735"/>
              <a:ext cx="17396729" cy="35720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112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6B0D0F"/>
                  </a:solidFill>
                  <a:effectLst/>
                  <a:uLnTx/>
                  <a:uFillTx/>
                  <a:latin typeface="Muli Heavy"/>
                  <a:ea typeface="+mn-ea"/>
                  <a:cs typeface="+mn-cs"/>
                </a:rPr>
                <a:t>FinQuest</a:t>
              </a:r>
              <a:r>
                <a:rPr kumimoji="0" lang="en-US" sz="5400" b="0" i="0" u="none" strike="noStrike" kern="1200" cap="none" spc="0" normalizeH="0" baseline="0" noProof="0" dirty="0">
                  <a:ln>
                    <a:noFill/>
                  </a:ln>
                  <a:solidFill>
                    <a:srgbClr val="6B0D0F"/>
                  </a:solidFill>
                  <a:effectLst/>
                  <a:uLnTx/>
                  <a:uFillTx/>
                  <a:latin typeface="Muli Heavy"/>
                  <a:ea typeface="+mn-ea"/>
                  <a:cs typeface="+mn-cs"/>
                </a:rPr>
                <a:t> – WebApp de </a:t>
              </a:r>
              <a:r>
                <a:rPr kumimoji="0" lang="en-US" sz="5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6B0D0F"/>
                  </a:solidFill>
                  <a:effectLst/>
                  <a:uLnTx/>
                  <a:uFillTx/>
                  <a:latin typeface="Muli Heavy"/>
                  <a:ea typeface="+mn-ea"/>
                  <a:cs typeface="+mn-cs"/>
                </a:rPr>
                <a:t>Educação</a:t>
              </a:r>
              <a:r>
                <a:rPr kumimoji="0" lang="en-US" sz="5400" b="0" i="0" u="none" strike="noStrike" kern="1200" cap="none" spc="0" normalizeH="0" baseline="0" noProof="0" dirty="0">
                  <a:ln>
                    <a:noFill/>
                  </a:ln>
                  <a:solidFill>
                    <a:srgbClr val="6B0D0F"/>
                  </a:solidFill>
                  <a:effectLst/>
                  <a:uLnTx/>
                  <a:uFillTx/>
                  <a:latin typeface="Muli Heavy"/>
                  <a:ea typeface="+mn-ea"/>
                  <a:cs typeface="+mn-cs"/>
                </a:rPr>
                <a:t> </a:t>
              </a:r>
              <a:r>
                <a:rPr kumimoji="0" lang="en-US" sz="5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6B0D0F"/>
                  </a:solidFill>
                  <a:effectLst/>
                  <a:uLnTx/>
                  <a:uFillTx/>
                  <a:latin typeface="Muli Heavy"/>
                  <a:ea typeface="+mn-ea"/>
                  <a:cs typeface="+mn-cs"/>
                </a:rPr>
                <a:t>Financeira</a:t>
              </a:r>
              <a:r>
                <a:rPr kumimoji="0" lang="en-US" sz="5400" b="0" i="0" u="none" strike="noStrike" kern="1200" cap="none" spc="0" normalizeH="0" baseline="0" noProof="0" dirty="0">
                  <a:ln>
                    <a:noFill/>
                  </a:ln>
                  <a:solidFill>
                    <a:srgbClr val="6B0D0F"/>
                  </a:solidFill>
                  <a:effectLst/>
                  <a:uLnTx/>
                  <a:uFillTx/>
                  <a:latin typeface="Muli Heavy"/>
                  <a:ea typeface="+mn-ea"/>
                  <a:cs typeface="+mn-cs"/>
                </a:rPr>
                <a:t> </a:t>
              </a:r>
              <a:r>
                <a:rPr kumimoji="0" lang="en-US" sz="5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6B0D0F"/>
                  </a:solidFill>
                  <a:effectLst/>
                  <a:uLnTx/>
                  <a:uFillTx/>
                  <a:latin typeface="Muli Heavy"/>
                  <a:ea typeface="+mn-ea"/>
                  <a:cs typeface="+mn-cs"/>
                </a:rPr>
                <a:t>Gamificada</a:t>
              </a:r>
              <a:r>
                <a:rPr kumimoji="0" lang="en-US" sz="5400" b="0" i="0" u="none" strike="noStrike" kern="1200" cap="none" spc="0" normalizeH="0" baseline="0" noProof="0" dirty="0">
                  <a:ln>
                    <a:noFill/>
                  </a:ln>
                  <a:solidFill>
                    <a:srgbClr val="6B0D0F"/>
                  </a:solidFill>
                  <a:effectLst/>
                  <a:uLnTx/>
                  <a:uFillTx/>
                  <a:latin typeface="Muli Heavy"/>
                  <a:ea typeface="+mn-ea"/>
                  <a:cs typeface="+mn-cs"/>
                </a:rPr>
                <a:t> e </a:t>
              </a:r>
              <a:r>
                <a:rPr kumimoji="0" lang="en-US" sz="5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6B0D0F"/>
                  </a:solidFill>
                  <a:effectLst/>
                  <a:uLnTx/>
                  <a:uFillTx/>
                  <a:latin typeface="Muli Heavy"/>
                  <a:ea typeface="+mn-ea"/>
                  <a:cs typeface="+mn-cs"/>
                </a:rPr>
                <a:t>Facilitada</a:t>
              </a:r>
              <a:endPara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srgbClr val="6B0D0F"/>
                </a:solidFill>
                <a:effectLst/>
                <a:uLnTx/>
                <a:uFillTx/>
                <a:latin typeface="Muli Heavy"/>
                <a:ea typeface="+mn-ea"/>
                <a:cs typeface="+mn-cs"/>
              </a:endParaRP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DBF4FB4F-6089-3559-A614-039AAEEEDFDD}"/>
                </a:ext>
              </a:extLst>
            </p:cNvPr>
            <p:cNvSpPr txBox="1"/>
            <p:nvPr/>
          </p:nvSpPr>
          <p:spPr>
            <a:xfrm>
              <a:off x="3493636" y="5080077"/>
              <a:ext cx="17396729" cy="12814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391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uli"/>
                  <a:ea typeface="+mn-ea"/>
                  <a:cs typeface="+mn-cs"/>
                </a:rPr>
                <a:t>Acadêmico</a:t>
              </a: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uli"/>
                  <a:ea typeface="+mn-ea"/>
                  <a:cs typeface="+mn-cs"/>
                </a:rPr>
                <a:t>: Vinícius Toni Rocha</a:t>
              </a:r>
              <a:b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uli"/>
                  <a:ea typeface="+mn-ea"/>
                  <a:cs typeface="+mn-cs"/>
                </a:rPr>
              </a:br>
              <a:r>
                <a:rPr kumimoji="0" lang="en-US" sz="2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uli"/>
                  <a:ea typeface="+mn-ea"/>
                  <a:cs typeface="+mn-cs"/>
                </a:rPr>
                <a:t>Orientador</a:t>
              </a: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uli"/>
                  <a:ea typeface="+mn-ea"/>
                  <a:cs typeface="+mn-cs"/>
                </a:rPr>
                <a:t>: Andrei </a:t>
              </a:r>
              <a:r>
                <a:rPr kumimoji="0" lang="en-US" sz="2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uli"/>
                  <a:ea typeface="+mn-ea"/>
                  <a:cs typeface="+mn-cs"/>
                </a:rPr>
                <a:t>Carniel</a:t>
              </a:r>
              <a:endPara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li"/>
                <a:ea typeface="+mn-ea"/>
                <a:cs typeface="+mn-cs"/>
              </a:endParaRPr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85E424B9-A8A8-ACC9-CEAC-4463D28BDEA3}"/>
              </a:ext>
            </a:extLst>
          </p:cNvPr>
          <p:cNvSpPr txBox="1"/>
          <p:nvPr/>
        </p:nvSpPr>
        <p:spPr>
          <a:xfrm>
            <a:off x="5071467" y="9315450"/>
            <a:ext cx="8145066" cy="366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799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li"/>
                <a:ea typeface="+mn-ea"/>
                <a:cs typeface="+mn-cs"/>
              </a:rPr>
              <a:t>XXV Congresso de Iniciação Científica e Extensão</a:t>
            </a:r>
          </a:p>
        </p:txBody>
      </p:sp>
    </p:spTree>
    <p:extLst>
      <p:ext uri="{BB962C8B-B14F-4D97-AF65-F5344CB8AC3E}">
        <p14:creationId xmlns:p14="http://schemas.microsoft.com/office/powerpoint/2010/main" val="1258031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dc69065-6f88-41f3-96a5-419abe4ab1aa">
      <Terms xmlns="http://schemas.microsoft.com/office/infopath/2007/PartnerControls"/>
    </lcf76f155ced4ddcb4097134ff3c332f>
    <TaxCatchAll xmlns="a7ef6343-860c-44bf-98f9-6f12846aa32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DDC4027568F654DA200C3408199B594" ma:contentTypeVersion="10" ma:contentTypeDescription="Crie um novo documento." ma:contentTypeScope="" ma:versionID="219dfc80ef346cc0e38c95791bbb1508">
  <xsd:schema xmlns:xsd="http://www.w3.org/2001/XMLSchema" xmlns:xs="http://www.w3.org/2001/XMLSchema" xmlns:p="http://schemas.microsoft.com/office/2006/metadata/properties" xmlns:ns2="fdc69065-6f88-41f3-96a5-419abe4ab1aa" xmlns:ns3="a7ef6343-860c-44bf-98f9-6f12846aa327" targetNamespace="http://schemas.microsoft.com/office/2006/metadata/properties" ma:root="true" ma:fieldsID="a0da95389456937834144c41aa6adc6d" ns2:_="" ns3:_="">
    <xsd:import namespace="fdc69065-6f88-41f3-96a5-419abe4ab1aa"/>
    <xsd:import namespace="a7ef6343-860c-44bf-98f9-6f12846aa3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c69065-6f88-41f3-96a5-419abe4ab1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Marcações de imagem" ma:readOnly="false" ma:fieldId="{5cf76f15-5ced-4ddc-b409-7134ff3c332f}" ma:taxonomyMulti="true" ma:sspId="9909241e-d01b-4a73-875a-5dc875fd716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ef6343-860c-44bf-98f9-6f12846aa327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d94bd1fc-db92-4c0e-9a2f-97363b9e7ea9}" ma:internalName="TaxCatchAll" ma:showField="CatchAllData" ma:web="a7ef6343-860c-44bf-98f9-6f12846aa3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A83EACB-694C-4589-94C7-7B119EB76609}">
  <ds:schemaRefs>
    <ds:schemaRef ds:uri="fdc69065-6f88-41f3-96a5-419abe4ab1aa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dcmitype/"/>
    <ds:schemaRef ds:uri="http://schemas.microsoft.com/office/infopath/2007/PartnerControls"/>
    <ds:schemaRef ds:uri="http://purl.org/dc/elements/1.1/"/>
    <ds:schemaRef ds:uri="a7ef6343-860c-44bf-98f9-6f12846aa327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D6AE9042-6937-42B7-B177-DD6A97631D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dc69065-6f88-41f3-96a5-419abe4ab1aa"/>
    <ds:schemaRef ds:uri="a7ef6343-860c-44bf-98f9-6f12846aa32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12B5F58-9A0D-4B0A-BFA0-A6069ADE829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591</TotalTime>
  <Words>801</Words>
  <Application>Microsoft Office PowerPoint</Application>
  <PresentationFormat>Personalizar</PresentationFormat>
  <Paragraphs>98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7" baseType="lpstr">
      <vt:lpstr>Arial</vt:lpstr>
      <vt:lpstr>Muli</vt:lpstr>
      <vt:lpstr>Calibri</vt:lpstr>
      <vt:lpstr>Muli Bold</vt:lpstr>
      <vt:lpstr>Muli Heavy</vt:lpstr>
      <vt:lpstr>Muli Semi-Bold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XXIII Congresso - Apresentação Slide</dc:title>
  <dc:creator>SUZANE DE BRITTO</dc:creator>
  <cp:lastModifiedBy>VINÍCIUS TONI ROCHA</cp:lastModifiedBy>
  <cp:revision>14</cp:revision>
  <dcterms:created xsi:type="dcterms:W3CDTF">2006-08-16T00:00:00Z</dcterms:created>
  <dcterms:modified xsi:type="dcterms:W3CDTF">2025-10-30T20:04:37Z</dcterms:modified>
  <dc:identifier>DAFvk6k6mo0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0x010100EDDC4027568F654DA200C3408199B594</vt:lpwstr>
  </property>
  <property fmtid="{D5CDD505-2E9C-101B-9397-08002B2CF9AE}" pid="3" name="MediaServiceImageTags">
    <vt:lpwstr/>
  </property>
</Properties>
</file>